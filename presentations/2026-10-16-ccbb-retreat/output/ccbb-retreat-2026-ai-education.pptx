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7"/>
  </p:notesMasterIdLst>
  <p:handoutMasterIdLst>
    <p:handoutMasterId r:id="rId8"/>
  </p:handoutMasterIdLst>
  <p:sldIdLst>
    <p:sldId id="300" r:id="rId5"/>
    <p:sldId id="301" r:id="rId13"/>
    <p:sldId id="302" r:id="rId14"/>
    <p:sldId id="303" r:id="rId15"/>
    <p:sldId id="304" r:id="rId16"/>
    <p:sldId id="305" r:id="rId17"/>
    <p:sldId id="306" r:id="rId18"/>
    <p:sldId id="307" r:id="rId19"/>
    <p:sldId id="308" r:id="rId20"/>
    <p:sldId id="309" r:id="rId6"/>
    <p:sldId id="310" r:id="rId21"/>
    <p:sldId id="311"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5">
          <p15:clr>
            <a:srgbClr val="A4A3A4"/>
          </p15:clr>
        </p15:guide>
        <p15:guide id="2" pos="3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990000"/>
    <a:srgbClr val="ACA39A"/>
    <a:srgbClr val="969696"/>
    <a:srgbClr val="9E9A95"/>
    <a:srgbClr val="382E25"/>
    <a:srgbClr val="C17945"/>
    <a:srgbClr val="31526A"/>
    <a:srgbClr val="690304"/>
    <a:srgbClr val="252626"/>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58" autoAdjust="0"/>
    <p:restoredTop sz="94677" autoAdjust="0"/>
  </p:normalViewPr>
  <p:slideViewPr>
    <p:cSldViewPr snapToGrid="0" snapToObjects="1">
      <p:cViewPr>
        <p:scale>
          <a:sx n="140" d="100"/>
          <a:sy n="140" d="100"/>
        </p:scale>
        <p:origin x="176" y="672"/>
      </p:cViewPr>
      <p:guideLst>
        <p:guide orient="horz" pos="3185"/>
        <p:guide pos="3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9" d="100"/>
        <a:sy n="149" d="100"/>
      </p:scale>
      <p:origin x="0" y="0"/>
    </p:cViewPr>
  </p:sorterViewPr>
  <p:notesViewPr>
    <p:cSldViewPr snapToGrid="0" snapToObjects="1">
      <p:cViewPr varScale="1">
        <p:scale>
          <a:sx n="132" d="100"/>
          <a:sy n="132" d="100"/>
        </p:scale>
        <p:origin x="-592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  <Relationship Id="rId13" Type="http://schemas.openxmlformats.org/officeDocument/2006/relationships/slide" Target="slides/slide3.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7859BD-4604-2843-976C-9F2DEE3C79DB}" type="datetimeFigureOut">
              <a:rPr lang="en-US" smtClean="0"/>
              <a:t>10/15/26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B64456-6A4C-DF40-836A-7ED7CB7228F1}" type="slidenum">
              <a:rPr lang="en-US" smtClean="0"/>
              <a:t>‹#›</a:t>
            </a:fld>
            <a:endParaRPr lang="en-US" dirty="0"/>
          </a:p>
        </p:txBody>
      </p:sp>
    </p:spTree>
    <p:extLst>
      <p:ext uri="{BB962C8B-B14F-4D97-AF65-F5344CB8AC3E}">
        <p14:creationId xmlns:p14="http://schemas.microsoft.com/office/powerpoint/2010/main" val="2632783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108F45-8DB7-E449-85E4-EC04F96DF3AA}" type="datetimeFigureOut">
              <a:rPr lang="en-US" smtClean="0"/>
              <a:t>10/15/26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06D261-4ACC-5E49-97C5-9D8FD2D9A3AF}" type="slidenum">
              <a:rPr lang="en-US" smtClean="0"/>
              <a:t>‹#›</a:t>
            </a:fld>
            <a:endParaRPr lang="en-US" dirty="0"/>
          </a:p>
        </p:txBody>
      </p:sp>
    </p:spTree>
    <p:extLst>
      <p:ext uri="{BB962C8B-B14F-4D97-AF65-F5344CB8AC3E}">
        <p14:creationId xmlns:p14="http://schemas.microsoft.com/office/powerpoint/2010/main" val="194734559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ODSAI is the IU School of Medicine’s Office of Data Science and AI. Three points in ten minutes: where AI education already lives at IU, how ODSAI connects IUSM researchers to it, and the hands-on workshop ODSAI runs.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AI education at IU is good but scattered. ODSAI’s job is to amplify it, not duplicate it, so IUSM researchers have one place to look. ODSAI is IUSM’s office to help researchers accelerate their research using AI: not just learning about AI, but learning how to apply it directly to their own work. IU’s AI Research Network is big and covers all of IU; ODSAI is small and can be more hands-on when needed. IUSM also has separate efforts on using AI in clinical education, driven by Anthony Shanks; those are out of scope for this talk. Per the IUSM MD student news (Mar 2, 2026), AI content is being added to Phase 1 health systems science courses, fourth-year specialty electives are in development, and a two-year AI scholarly concentration pilot has been proposed. Source: https://medicine.iu.edu/blogs/md-student-news/2026/students-launch-ai-in-medicine-sig</a:t>
            </a:r>
          </a:p>
          <a:p>
            <a:endParaRPr lang="en-US"/>
          </a:p>
          <a:p>
            <a:r>
              <a:rPr lang="en-US" dirty="0"/>
              <a:t>Detail if asked:</a:t>
            </a:r>
          </a:p>
          <a:p>
            <a:r>
              <a:rPr lang="en-US" dirty="0"/>
              <a:t>UITS Research Technologies, Supercomputing for Everyone Series (SC4ES) via IU IT Training: GPU Computing and AI on HPC; Large Language Models (LLMs) on High Performance Computing; Intro to HPC; HPC for Biologists; Getting Started with Jetstream2; Storage 101/201; Practical Coding for Researchers. Intro to Deep Learning on Big Red 200 is listed by the AI Research Network.</a:t>
            </a:r>
          </a:p>
          <a:p>
            <a:r>
              <a:rPr lang="en-US" dirty="0"/>
              <a:t>IU Research AI Research Network, AI Research Brown Bag Talk, fall 2026: Oct 26 Cindy E. Hmelo-Silver; Nov 9 Jingzhi Pu; Nov 23 Jiang Bian; Dec 7 Garim Lee.</a:t>
            </a:r>
          </a:p>
          <a:p>
            <a:r>
              <a:rPr lang="en-US" dirty="0"/>
              <a:t>Indiana CTSI AI Workshop Series (Data Science and Informatics program, co-lead Titus Schleyer): monthly, hybrid at the Regenstrief Social Hub, recorded. 2026 sessions included Overview of AI Concepts in Research, Third-party AI tools for research at IU, and Research Technologies AI tools for research at IU.</a:t>
            </a:r>
          </a:p>
          <a:p>
            <a:r>
              <a:rPr lang="en-US" dirty="0"/>
              <a:t>UITS Academic and AI Innovation (Anne Leftwich, UITS Chief Academic and AI Innovation Officer): GenAI 101, AI Innovation Hub Open Office Hours, GenAI Faculty Fellows Program, 3-for-30 Generative AI Series. Also the new IU Faculty Group on Student Learning in the Age of AI (Oct 14, 2026).</a:t>
            </a:r>
          </a:p>
          <a:p>
            <a:endParaRPr lang="en-US"/>
          </a:p>
          <a:p>
            <a:r>
              <a:rPr lang="en-US" dirty="0"/>
              <a:t>Sources:</a:t>
            </a:r>
          </a:p>
          <a:p>
            <a:r>
              <a:rPr lang="en-US" dirty="0"/>
              <a:t>https://ittraining.iu.edu/explore-topics/titles/hpc/index.html</a:t>
            </a:r>
          </a:p>
          <a:p>
            <a:r>
              <a:rPr lang="en-US" dirty="0"/>
              <a:t>https://research.iu.edu/research-networks/ai/index.html</a:t>
            </a:r>
          </a:p>
          <a:p>
            <a:r>
              <a:rPr lang="en-US" dirty="0"/>
              <a:t>https://research.iu.edu/news-events/events/research-events.html</a:t>
            </a:r>
          </a:p>
          <a:p>
            <a:r>
              <a:rPr lang="en-US" dirty="0"/>
              <a:t>https://indianactsi.org/new-ai-workshop-series-from-the-indiana-ctsi-will-educate-investigators-and-grow-community-around-artificial-intelligence/</a:t>
            </a:r>
          </a:p>
          <a:p>
            <a:r>
              <a:rPr lang="en-US" dirty="0"/>
              <a:t>https://ai.iu.edu</a:t>
            </a:r>
          </a:p>
          <a:p>
            <a:r>
              <a:rPr lang="en-US" dirty="0"/>
              <a:t>https://depi.iu.edu/events/ai-innovation/index.html</a:t>
            </a:r>
          </a:p>
          <a:p>
            <a:r>
              <a:rPr lang="en-US" dirty="0"/>
              <a:t>https://edscoop.com/indiana-university-technology-plan/</a:t>
            </a:r>
          </a:p>
          <a:p>
            <a:r>
              <a:rPr lang="en-US" dirty="0"/>
              <a:t>https://today.iu.edu/live/news/53982-iu-launches-faculty-led-effort-to-define-what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three series most useful to IUSM researchers. SC4ES page: https://ittraining.iu.edu/explore-topics/titles/scfes/index.html (the AI and GPU sessions are listed on https://ittraining.iu.edu/explore-topics/titles/hpc/index.html). CTSI series page: https://indianactsi.org/research/data-informatics/ai-resources/ai-workshop-series/ . The AI Research Network page (https://research.iu.edu/research-networks/ai) links to all IU AI events (https://events.iu.edu/all/tags/Artificial%20Intelligence). CTSI fall 2026 sessions, all at noon: Aug 18, Mary Bourke, Reimagining Instructional Design: GenAI Resilient and GenAI Integrative Instructional Design for Evaluating Learning Outcomes (recorded); Sep 22, Adam Wilk, Panel: Principles and Best Practices for using AI in Qualitative Research (recorded); Oct 27, Andrea Krussel, Building Competency-Based AI Training for Research and Clinical Workforces; Dec 8, Purna Garimella, AI and Human Subjects Research: An IRB Perspective. No November session listed. Full session lists are in the notes on the previous slide.</a:t>
            </a:r>
          </a:p>
          <a:p>
            <a:endParaRPr lang="en-US"/>
          </a:p>
          <a:p>
            <a:r>
              <a:rPr lang="en-US" dirty="0"/>
              <a:t>Sources:</a:t>
            </a:r>
          </a:p>
          <a:p>
            <a:r>
              <a:rPr lang="en-US" dirty="0"/>
              <a:t>https://ittraining.iu.edu/explore-topics/titles/hpc/index.html</a:t>
            </a:r>
          </a:p>
          <a:p>
            <a:r>
              <a:rPr lang="en-US" dirty="0"/>
              <a:t>https://indianactsi.org/new-ai-workshop-series-from-the-indiana-ctsi-will-educate-investigators-and-grow-community-around-artificial-intelligence/</a:t>
            </a:r>
          </a:p>
          <a:p>
            <a:r>
              <a:rPr lang="en-US" dirty="0"/>
              <a:t>https://research.iu.edu/research-networks/ai/index.html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AI resources IUSM researchers can use today. ChatGPT Edu (IU license) and Google Gemini, including Gemini Notebook (formerly NotebookLM, renamed July 2026), are best for general chat and light coding. ChatGPT Edu, Gemini and Microsoft Copilot can all be used with restricted data. ChatGPT Edu includes Codex for coding, but use is limited by its free monthly credits, which go fast; Copilot (through Azure) can have some cost associated. NSF resources, Jetstream2 and NRP (the National Research Platform), are great for projects that fit their allocation requirements. Jetstream2 is primarily an NSF production cloud for open, publishable, or general academic and scientific research, so no PHI or critical data. Jetstream2 also offers API access; NRP offers free LLM access for researchers and educators through a chat interface and an OpenAI-compatible API (https://nrp.ai/llms). REALLMS is the only one approved for PHI; details on the next slide.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REALLMS (Research and Academic LLM Services) is IU’s on-premise LLM service, run by UITS Research Technologies in the IU Data Center and free to the IU community. It is the only IU option approved for PHI. Current models: gpt-oss-120b and Qwen3.8-27B, with glm5.3-flash coming soon. Access is through a chat interface or an API (through RT projects). This is also what the workshop VMs will use.</a:t>
            </a:r>
          </a:p>
          <a:p>
            <a:endParaRPr lang="en-US"/>
          </a:p>
          <a:p>
            <a:r>
              <a:rPr lang="en-US" dirty="0"/>
              <a:t>Source: https://researchdata.iu.edu/resource-catalog/about-reallms-at-iu/index.html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Three places to go for help with AI in research. ODSAI is IUSM’s office to help you accelerate your research using AI. Its focus is supporting the use of AI to accelerate biomedical research, both basic and computational, and education is a main pillar of that work: teaching researchers how to actively apply these tools to their research today (the workshop later in this talk is one example). It is small enough to be hands-on, helping researchers apply AI directly to their own work, and connecting them onward when needed. The Fall 2025 IUSM All School Meeting recap says an AI Governance Committee has been formed, made up of education, clinical, research and IT leaders, to focus on policies and guidance for faculty, staff and students; its members come from IUSM, IU Health and Regenstrief; for researchers it acts as an advisory group on the logistics of running an AI research program the right way (which tools are approved, handling protected data, compliance, who to talk to). The Dean’s office AI group, which includes David Hanson, director of artificial intelligence, supports AI in clinical and education settings through proof-of-concept development and consulting. ODSAI works with them on joint consults such as the example on the next slide. </a:t>
            </a:r>
          </a:p>
          <a:p>
            <a:endParaRPr lang="en-US"/>
          </a:p>
          <a:p>
            <a:r>
              <a:rPr lang="en-US" dirty="0"/>
              <a:t>Source: https://medicine.iu.edu/blogs/dean/fall-2025-all-school-meeting-recap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One example of a joint consult: a group at IU School of Medicine–Northwest-Gary wanted to use AI tools to capture conversations in a clinical learning environment, and ODSAI and the Dean’s office AI group met with the faculty members to discuss feasibility and implementation options for their project. This is only an example; the outcome is not part of the talk. ODSAI’s focus is supporting the needs of basic and computational labs; helping with clinical projects like this one is a bonus.</a:t>
            </a:r>
          </a:p>
          <a:p>
            <a:endParaRPr lang="en-US"/>
          </a:p>
          <a:p>
            <a:r>
              <a:rPr lang="en-US" dirty="0"/>
              <a:t>Source: https://medicine.iu.edu/gary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Dayu Sun in Biostatistics is developing a course on AI Literacy (still in development). ODSAI is involved so solutions can be shared between any other classes that have similar needs: we help coordinate so each class doesn’t need to reinvent the wheel, and we can share notes on AI tools and how to get students access. For this course that includes logistics such as computing needs and which LLMs are available for coursework.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Why ODSAI does its own work on AI in biomedical research: these problems are what the workshop is built around. Draft wording; edit to match how you describe ODSAI’s priorities.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ODSAI is planning a hands-on workshop, AI Tools for Biomedical Researchers: A Hands-On Workshop. Plan: three weekly 3.5-hour sessions on the same weekday, 20 to 25 participants per session, one or two TAs, and a personal VM for each participant using IU REALLMS local LLMs (REALLMS: Research and Academic LLM Services, run by UITS Research Technologies in the IU Data Center; https://researchdata.iu.edu/resource-catalog/about-reallms-at-iu/index.html). [Add dates and registration.]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goal across all three days is to remove the magic. Day 1: how AI works and where it breaks. Day 2: getting your data accessible to LLMs. Day 3: a coding analysis exercise with an AI coding harness.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Click the link to show the workshop site. Then the ask: whatever the question (tools, data, policy, methods), ODSAI can help, and can bring in the governance committee, the Dean’s office AI group, UITS Research Technologies, the CTSI or others as needed. No sign-off from ODSAI is needed to use AI in your projects; this is an offer of help.</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page">
    <p:bg>
      <p:bgPr>
        <a:solidFill>
          <a:srgbClr val="ACA39A">
            <a:alpha val="40000"/>
          </a:srgbClr>
        </a:solidFill>
        <a:effectLst/>
      </p:bgPr>
    </p:bg>
    <p:spTree>
      <p:nvGrpSpPr>
        <p:cNvPr id="1" name=""/>
        <p:cNvGrpSpPr/>
        <p:nvPr/>
      </p:nvGrpSpPr>
      <p:grpSpPr>
        <a:xfrm>
          <a:off x="0" y="0"/>
          <a:ext cx="0" cy="0"/>
          <a:chOff x="0" y="0"/>
          <a:chExt cx="0" cy="0"/>
        </a:xfrm>
      </p:grpSpPr>
      <p:sp>
        <p:nvSpPr>
          <p:cNvPr id="6" name="Rectangle 5"/>
          <p:cNvSpPr/>
          <p:nvPr userDrawn="1"/>
        </p:nvSpPr>
        <p:spPr>
          <a:xfrm>
            <a:off x="633304" y="-64837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425" y="581278"/>
            <a:ext cx="1289146" cy="1415797"/>
          </a:xfrm>
          <a:prstGeom prst="rect">
            <a:avLst/>
          </a:prstGeom>
        </p:spPr>
      </p:pic>
      <p:sp>
        <p:nvSpPr>
          <p:cNvPr id="12" name="Rectangle 11">
            <a:extLst>
              <a:ext uri="{FF2B5EF4-FFF2-40B4-BE49-F238E27FC236}">
                <a16:creationId xmlns:a16="http://schemas.microsoft.com/office/drawing/2014/main" id="{BA4CDEAE-A72C-6745-AF68-F4D3AFBE4BD4}"/>
              </a:ext>
            </a:extLst>
          </p:cNvPr>
          <p:cNvSpPr/>
          <p:nvPr userDrawn="1"/>
        </p:nvSpPr>
        <p:spPr>
          <a:xfrm>
            <a:off x="-30788" y="4650465"/>
            <a:ext cx="9228667" cy="540015"/>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F8ED37B-660D-B140-BE36-7D07837A2CC9}"/>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D42028F-4BED-E643-AAE4-ABF5BDB8083F}"/>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sp>
        <p:nvSpPr>
          <p:cNvPr id="16" name="Title 1">
            <a:extLst>
              <a:ext uri="{FF2B5EF4-FFF2-40B4-BE49-F238E27FC236}">
                <a16:creationId xmlns:a16="http://schemas.microsoft.com/office/drawing/2014/main" id="{38BEB617-516B-C249-8FE5-7BA549031011}"/>
              </a:ext>
            </a:extLst>
          </p:cNvPr>
          <p:cNvSpPr>
            <a:spLocks noGrp="1"/>
          </p:cNvSpPr>
          <p:nvPr>
            <p:ph type="title" hasCustomPrompt="1"/>
          </p:nvPr>
        </p:nvSpPr>
        <p:spPr>
          <a:xfrm>
            <a:off x="502903" y="1975994"/>
            <a:ext cx="7734221" cy="1114494"/>
          </a:xfrm>
          <a:prstGeom prst="rect">
            <a:avLst/>
          </a:prstGeom>
        </p:spPr>
        <p:txBody>
          <a:bodyPr anchor="ctr">
            <a:normAutofit/>
          </a:bodyPr>
          <a:lstStyle>
            <a:lvl1pPr>
              <a:lnSpc>
                <a:spcPct val="90000"/>
              </a:lnSpc>
              <a:defRPr sz="4000" b="1" i="0" spc="0" baseline="0">
                <a:solidFill>
                  <a:schemeClr val="tx1"/>
                </a:solidFill>
                <a:latin typeface="Arial"/>
                <a:cs typeface="Arial"/>
              </a:defRPr>
            </a:lvl1pPr>
          </a:lstStyle>
          <a:p>
            <a:r>
              <a:rPr lang="en-US" dirty="0"/>
              <a:t>Option 1 – Opening Slide – text resizes as content is entered</a:t>
            </a:r>
          </a:p>
        </p:txBody>
      </p:sp>
      <p:sp>
        <p:nvSpPr>
          <p:cNvPr id="17" name="Text Placeholder 19">
            <a:extLst>
              <a:ext uri="{FF2B5EF4-FFF2-40B4-BE49-F238E27FC236}">
                <a16:creationId xmlns:a16="http://schemas.microsoft.com/office/drawing/2014/main" id="{A17B975E-BE6B-3E4A-8B92-9C17B56151B0}"/>
              </a:ext>
            </a:extLst>
          </p:cNvPr>
          <p:cNvSpPr>
            <a:spLocks noGrp="1"/>
          </p:cNvSpPr>
          <p:nvPr>
            <p:ph type="body" sz="quarter" idx="12" hasCustomPrompt="1"/>
          </p:nvPr>
        </p:nvSpPr>
        <p:spPr>
          <a:xfrm>
            <a:off x="530694" y="3264558"/>
            <a:ext cx="7734222" cy="252412"/>
          </a:xfrm>
          <a:prstGeom prst="rect">
            <a:avLst/>
          </a:prstGeom>
        </p:spPr>
        <p:txBody>
          <a:bodyPr anchor="ctr">
            <a:noAutofit/>
          </a:bodyPr>
          <a:lstStyle>
            <a:lvl1pPr marL="0" indent="0">
              <a:buNone/>
              <a:defRPr sz="1800" b="0" spc="0" baseline="0">
                <a:solidFill>
                  <a:schemeClr val="tx1"/>
                </a:solidFill>
                <a:latin typeface="Arial"/>
                <a:cs typeface="Arial"/>
              </a:defRPr>
            </a:lvl1pPr>
          </a:lstStyle>
          <a:p>
            <a:pPr lvl="0"/>
            <a:r>
              <a:rPr lang="en-US" dirty="0"/>
              <a:t>PRESENTER AND TITLE</a:t>
            </a:r>
          </a:p>
        </p:txBody>
      </p:sp>
      <p:sp>
        <p:nvSpPr>
          <p:cNvPr id="9" name="Text Placeholder 19">
            <a:extLst>
              <a:ext uri="{FF2B5EF4-FFF2-40B4-BE49-F238E27FC236}">
                <a16:creationId xmlns:a16="http://schemas.microsoft.com/office/drawing/2014/main" id="{1800061F-0F64-2641-A25C-4FE07FA0159A}"/>
              </a:ext>
            </a:extLst>
          </p:cNvPr>
          <p:cNvSpPr>
            <a:spLocks noGrp="1"/>
          </p:cNvSpPr>
          <p:nvPr>
            <p:ph type="body" sz="quarter" idx="11" hasCustomPrompt="1"/>
          </p:nvPr>
        </p:nvSpPr>
        <p:spPr>
          <a:xfrm>
            <a:off x="2988296" y="253569"/>
            <a:ext cx="5842227" cy="252412"/>
          </a:xfrm>
          <a:prstGeom prst="rect">
            <a:avLst/>
          </a:prstGeom>
        </p:spPr>
        <p:txBody>
          <a:bodyPr anchor="ctr">
            <a:noAutofit/>
          </a:bodyPr>
          <a:lstStyle>
            <a:lvl1pPr marL="0" indent="0" algn="r">
              <a:buNone/>
              <a:defRPr sz="1400" b="0" spc="0" baseline="0">
                <a:solidFill>
                  <a:schemeClr val="tx1"/>
                </a:solidFill>
                <a:latin typeface="Arial"/>
                <a:cs typeface="Arial"/>
              </a:defRPr>
            </a:lvl1pPr>
          </a:lstStyle>
          <a:p>
            <a:pPr lvl="0"/>
            <a:r>
              <a:rPr lang="en-US" dirty="0"/>
              <a:t>SUBHEAD OR NAME OF DEPARTMENT, PROGRAM OR UNIT</a:t>
            </a:r>
          </a:p>
        </p:txBody>
      </p:sp>
    </p:spTree>
    <p:extLst>
      <p:ext uri="{BB962C8B-B14F-4D97-AF65-F5344CB8AC3E}">
        <p14:creationId xmlns:p14="http://schemas.microsoft.com/office/powerpoint/2010/main" val="2743428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page">
    <p:bg>
      <p:bgPr>
        <a:solidFill>
          <a:srgbClr val="ACA39A">
            <a:alpha val="80000"/>
          </a:srgbClr>
        </a:solidFill>
        <a:effectLst/>
      </p:bgPr>
    </p:bg>
    <p:spTree>
      <p:nvGrpSpPr>
        <p:cNvPr id="1" name=""/>
        <p:cNvGrpSpPr/>
        <p:nvPr/>
      </p:nvGrpSpPr>
      <p:grpSpPr>
        <a:xfrm>
          <a:off x="0" y="0"/>
          <a:ext cx="0" cy="0"/>
          <a:chOff x="0" y="0"/>
          <a:chExt cx="0" cy="0"/>
        </a:xfrm>
      </p:grpSpPr>
      <p:sp>
        <p:nvSpPr>
          <p:cNvPr id="6" name="Rectangle 5"/>
          <p:cNvSpPr/>
          <p:nvPr userDrawn="1"/>
        </p:nvSpPr>
        <p:spPr>
          <a:xfrm>
            <a:off x="633304" y="-64837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425" y="581278"/>
            <a:ext cx="1289146" cy="1415797"/>
          </a:xfrm>
          <a:prstGeom prst="rect">
            <a:avLst/>
          </a:prstGeom>
        </p:spPr>
      </p:pic>
      <p:sp>
        <p:nvSpPr>
          <p:cNvPr id="12" name="Rectangle 11">
            <a:extLst>
              <a:ext uri="{FF2B5EF4-FFF2-40B4-BE49-F238E27FC236}">
                <a16:creationId xmlns:a16="http://schemas.microsoft.com/office/drawing/2014/main" id="{BA4CDEAE-A72C-6745-AF68-F4D3AFBE4BD4}"/>
              </a:ext>
            </a:extLst>
          </p:cNvPr>
          <p:cNvSpPr/>
          <p:nvPr userDrawn="1"/>
        </p:nvSpPr>
        <p:spPr>
          <a:xfrm>
            <a:off x="-30788" y="4650465"/>
            <a:ext cx="9228667" cy="540015"/>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F8ED37B-660D-B140-BE36-7D07837A2CC9}"/>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D42028F-4BED-E643-AAE4-ABF5BDB8083F}"/>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sp>
        <p:nvSpPr>
          <p:cNvPr id="16" name="Title 1">
            <a:extLst>
              <a:ext uri="{FF2B5EF4-FFF2-40B4-BE49-F238E27FC236}">
                <a16:creationId xmlns:a16="http://schemas.microsoft.com/office/drawing/2014/main" id="{38BEB617-516B-C249-8FE5-7BA549031011}"/>
              </a:ext>
            </a:extLst>
          </p:cNvPr>
          <p:cNvSpPr>
            <a:spLocks noGrp="1"/>
          </p:cNvSpPr>
          <p:nvPr>
            <p:ph type="title" hasCustomPrompt="1"/>
          </p:nvPr>
        </p:nvSpPr>
        <p:spPr>
          <a:xfrm>
            <a:off x="502903" y="1975994"/>
            <a:ext cx="7734221" cy="1114494"/>
          </a:xfrm>
          <a:prstGeom prst="rect">
            <a:avLst/>
          </a:prstGeom>
        </p:spPr>
        <p:txBody>
          <a:bodyPr anchor="ctr">
            <a:normAutofit/>
          </a:bodyPr>
          <a:lstStyle>
            <a:lvl1pPr>
              <a:lnSpc>
                <a:spcPct val="90000"/>
              </a:lnSpc>
              <a:defRPr sz="4000" b="1" i="0" spc="0" baseline="0">
                <a:solidFill>
                  <a:schemeClr val="tx1"/>
                </a:solidFill>
                <a:latin typeface="Arial"/>
                <a:cs typeface="Arial"/>
              </a:defRPr>
            </a:lvl1pPr>
          </a:lstStyle>
          <a:p>
            <a:r>
              <a:rPr lang="en-US" dirty="0"/>
              <a:t>Option 2 – Opening Slide – text resizes as content is entered</a:t>
            </a:r>
          </a:p>
        </p:txBody>
      </p:sp>
      <p:sp>
        <p:nvSpPr>
          <p:cNvPr id="17" name="Text Placeholder 19">
            <a:extLst>
              <a:ext uri="{FF2B5EF4-FFF2-40B4-BE49-F238E27FC236}">
                <a16:creationId xmlns:a16="http://schemas.microsoft.com/office/drawing/2014/main" id="{A17B975E-BE6B-3E4A-8B92-9C17B56151B0}"/>
              </a:ext>
            </a:extLst>
          </p:cNvPr>
          <p:cNvSpPr>
            <a:spLocks noGrp="1"/>
          </p:cNvSpPr>
          <p:nvPr>
            <p:ph type="body" sz="quarter" idx="12" hasCustomPrompt="1"/>
          </p:nvPr>
        </p:nvSpPr>
        <p:spPr>
          <a:xfrm>
            <a:off x="530694" y="3264558"/>
            <a:ext cx="7734222" cy="252412"/>
          </a:xfrm>
          <a:prstGeom prst="rect">
            <a:avLst/>
          </a:prstGeom>
        </p:spPr>
        <p:txBody>
          <a:bodyPr anchor="ctr">
            <a:noAutofit/>
          </a:bodyPr>
          <a:lstStyle>
            <a:lvl1pPr marL="0" indent="0">
              <a:buNone/>
              <a:defRPr sz="1800" b="0" spc="0" baseline="0">
                <a:solidFill>
                  <a:schemeClr val="tx1"/>
                </a:solidFill>
                <a:latin typeface="Arial"/>
                <a:cs typeface="Arial"/>
              </a:defRPr>
            </a:lvl1pPr>
          </a:lstStyle>
          <a:p>
            <a:pPr lvl="0"/>
            <a:r>
              <a:rPr lang="en-US" dirty="0"/>
              <a:t>PRESENTER AND TITLE</a:t>
            </a:r>
          </a:p>
        </p:txBody>
      </p:sp>
      <p:sp>
        <p:nvSpPr>
          <p:cNvPr id="9" name="Text Placeholder 19">
            <a:extLst>
              <a:ext uri="{FF2B5EF4-FFF2-40B4-BE49-F238E27FC236}">
                <a16:creationId xmlns:a16="http://schemas.microsoft.com/office/drawing/2014/main" id="{1800061F-0F64-2641-A25C-4FE07FA0159A}"/>
              </a:ext>
            </a:extLst>
          </p:cNvPr>
          <p:cNvSpPr>
            <a:spLocks noGrp="1"/>
          </p:cNvSpPr>
          <p:nvPr>
            <p:ph type="body" sz="quarter" idx="11" hasCustomPrompt="1"/>
          </p:nvPr>
        </p:nvSpPr>
        <p:spPr>
          <a:xfrm>
            <a:off x="2988296" y="253569"/>
            <a:ext cx="5842227" cy="252412"/>
          </a:xfrm>
          <a:prstGeom prst="rect">
            <a:avLst/>
          </a:prstGeom>
        </p:spPr>
        <p:txBody>
          <a:bodyPr anchor="ctr">
            <a:noAutofit/>
          </a:bodyPr>
          <a:lstStyle>
            <a:lvl1pPr marL="0" indent="0" algn="r">
              <a:buNone/>
              <a:defRPr sz="1400" b="0" spc="0" baseline="0">
                <a:solidFill>
                  <a:schemeClr val="tx1"/>
                </a:solidFill>
                <a:latin typeface="Arial"/>
                <a:cs typeface="Arial"/>
              </a:defRPr>
            </a:lvl1pPr>
          </a:lstStyle>
          <a:p>
            <a:pPr lvl="0"/>
            <a:r>
              <a:rPr lang="en-US" dirty="0"/>
              <a:t>SUBHEAD OR NAME OF DEPARTMENT, PROGRAM OR UNIT</a:t>
            </a:r>
          </a:p>
        </p:txBody>
      </p:sp>
    </p:spTree>
    <p:extLst>
      <p:ext uri="{BB962C8B-B14F-4D97-AF65-F5344CB8AC3E}">
        <p14:creationId xmlns:p14="http://schemas.microsoft.com/office/powerpoint/2010/main" val="3259976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6" name="Rectangle 5"/>
          <p:cNvSpPr/>
          <p:nvPr userDrawn="1"/>
        </p:nvSpPr>
        <p:spPr>
          <a:xfrm>
            <a:off x="633304" y="-64837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425" y="581278"/>
            <a:ext cx="1289146" cy="1415797"/>
          </a:xfrm>
          <a:prstGeom prst="rect">
            <a:avLst/>
          </a:prstGeom>
        </p:spPr>
      </p:pic>
      <p:sp>
        <p:nvSpPr>
          <p:cNvPr id="12" name="Rectangle 11">
            <a:extLst>
              <a:ext uri="{FF2B5EF4-FFF2-40B4-BE49-F238E27FC236}">
                <a16:creationId xmlns:a16="http://schemas.microsoft.com/office/drawing/2014/main" id="{BA4CDEAE-A72C-6745-AF68-F4D3AFBE4BD4}"/>
              </a:ext>
            </a:extLst>
          </p:cNvPr>
          <p:cNvSpPr/>
          <p:nvPr userDrawn="1"/>
        </p:nvSpPr>
        <p:spPr>
          <a:xfrm>
            <a:off x="-30788" y="4650465"/>
            <a:ext cx="9228667" cy="540015"/>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F8ED37B-660D-B140-BE36-7D07837A2CC9}"/>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D42028F-4BED-E643-AAE4-ABF5BDB8083F}"/>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sp>
        <p:nvSpPr>
          <p:cNvPr id="15" name="Text Placeholder 19">
            <a:extLst>
              <a:ext uri="{FF2B5EF4-FFF2-40B4-BE49-F238E27FC236}">
                <a16:creationId xmlns:a16="http://schemas.microsoft.com/office/drawing/2014/main" id="{C9A91140-A017-E042-AACE-3BC11888B624}"/>
              </a:ext>
            </a:extLst>
          </p:cNvPr>
          <p:cNvSpPr>
            <a:spLocks noGrp="1"/>
          </p:cNvSpPr>
          <p:nvPr>
            <p:ph type="body" sz="quarter" idx="11" hasCustomPrompt="1"/>
          </p:nvPr>
        </p:nvSpPr>
        <p:spPr>
          <a:xfrm>
            <a:off x="2988296" y="253569"/>
            <a:ext cx="5842227" cy="252412"/>
          </a:xfrm>
          <a:prstGeom prst="rect">
            <a:avLst/>
          </a:prstGeom>
        </p:spPr>
        <p:txBody>
          <a:bodyPr anchor="ctr">
            <a:noAutofit/>
          </a:bodyPr>
          <a:lstStyle>
            <a:lvl1pPr marL="0" indent="0" algn="r">
              <a:buNone/>
              <a:defRPr sz="1400" b="0" spc="0" baseline="0">
                <a:solidFill>
                  <a:schemeClr val="bg1"/>
                </a:solidFill>
                <a:latin typeface="Arial"/>
                <a:cs typeface="Arial"/>
              </a:defRPr>
            </a:lvl1pPr>
          </a:lstStyle>
          <a:p>
            <a:pPr lvl="0"/>
            <a:r>
              <a:rPr lang="en-US" dirty="0"/>
              <a:t>SUBHEAD OR NAME OF DEPARTMENT, PROGRAM OR UNIT</a:t>
            </a:r>
          </a:p>
        </p:txBody>
      </p:sp>
      <p:sp>
        <p:nvSpPr>
          <p:cNvPr id="16" name="Title 1">
            <a:extLst>
              <a:ext uri="{FF2B5EF4-FFF2-40B4-BE49-F238E27FC236}">
                <a16:creationId xmlns:a16="http://schemas.microsoft.com/office/drawing/2014/main" id="{38BEB617-516B-C249-8FE5-7BA549031011}"/>
              </a:ext>
            </a:extLst>
          </p:cNvPr>
          <p:cNvSpPr>
            <a:spLocks noGrp="1"/>
          </p:cNvSpPr>
          <p:nvPr>
            <p:ph type="title" hasCustomPrompt="1"/>
          </p:nvPr>
        </p:nvSpPr>
        <p:spPr>
          <a:xfrm>
            <a:off x="502903" y="1975994"/>
            <a:ext cx="7734221" cy="1114494"/>
          </a:xfrm>
          <a:prstGeom prst="rect">
            <a:avLst/>
          </a:prstGeom>
        </p:spPr>
        <p:txBody>
          <a:bodyPr anchor="ctr">
            <a:normAutofit/>
          </a:bodyPr>
          <a:lstStyle>
            <a:lvl1pPr>
              <a:lnSpc>
                <a:spcPct val="90000"/>
              </a:lnSpc>
              <a:defRPr sz="4000" b="1" i="0" spc="0" baseline="0">
                <a:solidFill>
                  <a:schemeClr val="bg1"/>
                </a:solidFill>
                <a:latin typeface="Arial"/>
                <a:cs typeface="Arial"/>
              </a:defRPr>
            </a:lvl1pPr>
          </a:lstStyle>
          <a:p>
            <a:r>
              <a:rPr lang="en-US" dirty="0"/>
              <a:t>Option 3 – Opening Slide – text resizes as content is entered</a:t>
            </a:r>
          </a:p>
        </p:txBody>
      </p:sp>
      <p:sp>
        <p:nvSpPr>
          <p:cNvPr id="17" name="Text Placeholder 19">
            <a:extLst>
              <a:ext uri="{FF2B5EF4-FFF2-40B4-BE49-F238E27FC236}">
                <a16:creationId xmlns:a16="http://schemas.microsoft.com/office/drawing/2014/main" id="{A17B975E-BE6B-3E4A-8B92-9C17B56151B0}"/>
              </a:ext>
            </a:extLst>
          </p:cNvPr>
          <p:cNvSpPr>
            <a:spLocks noGrp="1"/>
          </p:cNvSpPr>
          <p:nvPr>
            <p:ph type="body" sz="quarter" idx="12" hasCustomPrompt="1"/>
          </p:nvPr>
        </p:nvSpPr>
        <p:spPr>
          <a:xfrm>
            <a:off x="530694" y="3264558"/>
            <a:ext cx="7734222" cy="252412"/>
          </a:xfrm>
          <a:prstGeom prst="rect">
            <a:avLst/>
          </a:prstGeom>
        </p:spPr>
        <p:txBody>
          <a:bodyPr anchor="ctr">
            <a:noAutofit/>
          </a:bodyPr>
          <a:lstStyle>
            <a:lvl1pPr marL="0" indent="0">
              <a:buNone/>
              <a:defRPr sz="1800" b="0" spc="0" baseline="0">
                <a:solidFill>
                  <a:schemeClr val="bg1"/>
                </a:solidFill>
                <a:latin typeface="Arial"/>
                <a:cs typeface="Arial"/>
              </a:defRPr>
            </a:lvl1pPr>
          </a:lstStyle>
          <a:p>
            <a:pPr lvl="0"/>
            <a:r>
              <a:rPr lang="en-US" dirty="0"/>
              <a:t>PRESENTER AND TITLE</a:t>
            </a:r>
          </a:p>
        </p:txBody>
      </p:sp>
    </p:spTree>
    <p:extLst>
      <p:ext uri="{BB962C8B-B14F-4D97-AF65-F5344CB8AC3E}">
        <p14:creationId xmlns:p14="http://schemas.microsoft.com/office/powerpoint/2010/main" val="1256653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ACA39A"/>
        </a:solidFill>
        <a:effectLst/>
      </p:bgPr>
    </p:bg>
    <p:spTree>
      <p:nvGrpSpPr>
        <p:cNvPr id="1" name=""/>
        <p:cNvGrpSpPr/>
        <p:nvPr/>
      </p:nvGrpSpPr>
      <p:grpSpPr>
        <a:xfrm>
          <a:off x="0" y="0"/>
          <a:ext cx="0" cy="0"/>
          <a:chOff x="0" y="0"/>
          <a:chExt cx="0" cy="0"/>
        </a:xfrm>
      </p:grpSpPr>
      <p:sp>
        <p:nvSpPr>
          <p:cNvPr id="2" name="TextBox 1"/>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0" name="TextBox 9"/>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1" name="TextBox 10"/>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4" name="Title 13"/>
          <p:cNvSpPr>
            <a:spLocks noGrp="1"/>
          </p:cNvSpPr>
          <p:nvPr>
            <p:ph type="title" hasCustomPrompt="1"/>
          </p:nvPr>
        </p:nvSpPr>
        <p:spPr>
          <a:xfrm>
            <a:off x="506694" y="2274522"/>
            <a:ext cx="6802482" cy="656910"/>
          </a:xfrm>
          <a:prstGeom prst="rect">
            <a:avLst/>
          </a:prstGeom>
        </p:spPr>
        <p:txBody>
          <a:bodyPr anchor="ctr">
            <a:noAutofit/>
          </a:bodyPr>
          <a:lstStyle>
            <a:lvl1pPr>
              <a:defRPr sz="4000" b="1" i="0" spc="0" baseline="0">
                <a:solidFill>
                  <a:schemeClr val="tx1"/>
                </a:solidFill>
                <a:latin typeface="Arial"/>
                <a:cs typeface="Arial"/>
              </a:defRPr>
            </a:lvl1pPr>
          </a:lstStyle>
          <a:p>
            <a:r>
              <a:rPr lang="en-US" dirty="0"/>
              <a:t>Section Heading</a:t>
            </a:r>
          </a:p>
        </p:txBody>
      </p:sp>
      <p:sp>
        <p:nvSpPr>
          <p:cNvPr id="20" name="Text Placeholder 19"/>
          <p:cNvSpPr>
            <a:spLocks noGrp="1"/>
          </p:cNvSpPr>
          <p:nvPr>
            <p:ph type="body" sz="quarter" idx="10" hasCustomPrompt="1"/>
          </p:nvPr>
        </p:nvSpPr>
        <p:spPr>
          <a:xfrm>
            <a:off x="526131" y="2032786"/>
            <a:ext cx="3700462" cy="252412"/>
          </a:xfrm>
          <a:prstGeom prst="rect">
            <a:avLst/>
          </a:prstGeom>
        </p:spPr>
        <p:txBody>
          <a:bodyPr anchor="ctr">
            <a:noAutofit/>
          </a:bodyPr>
          <a:lstStyle>
            <a:lvl1pPr marL="0" indent="0">
              <a:buNone/>
              <a:defRPr sz="1400" b="1" i="0" spc="50" baseline="0">
                <a:solidFill>
                  <a:schemeClr val="tx1"/>
                </a:solidFill>
                <a:latin typeface="Arial"/>
                <a:cs typeface="Arial"/>
              </a:defRPr>
            </a:lvl1pPr>
          </a:lstStyle>
          <a:p>
            <a:pPr lvl="0"/>
            <a:r>
              <a:rPr lang="en-US" dirty="0"/>
              <a:t>SECTION NUMBER OR SUBTITLE</a:t>
            </a:r>
          </a:p>
        </p:txBody>
      </p:sp>
      <p:sp>
        <p:nvSpPr>
          <p:cNvPr id="4" name="Rectangle 3"/>
          <p:cNvSpPr/>
          <p:nvPr userDrawn="1"/>
        </p:nvSpPr>
        <p:spPr>
          <a:xfrm>
            <a:off x="-14942" y="2032000"/>
            <a:ext cx="148614" cy="83670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FD999E8A-87E3-6C4B-ABCB-DFCF83254878}"/>
              </a:ext>
            </a:extLst>
          </p:cNvPr>
          <p:cNvGrpSpPr/>
          <p:nvPr userDrawn="1"/>
        </p:nvGrpSpPr>
        <p:grpSpPr>
          <a:xfrm>
            <a:off x="-30788" y="4298510"/>
            <a:ext cx="9228667" cy="853727"/>
            <a:chOff x="-30788" y="4298510"/>
            <a:chExt cx="9228667" cy="853727"/>
          </a:xfrm>
        </p:grpSpPr>
        <p:sp>
          <p:nvSpPr>
            <p:cNvPr id="17" name="Rectangle 16">
              <a:extLst>
                <a:ext uri="{FF2B5EF4-FFF2-40B4-BE49-F238E27FC236}">
                  <a16:creationId xmlns:a16="http://schemas.microsoft.com/office/drawing/2014/main" id="{238A2E75-148C-1248-B56B-A0880FA34210}"/>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84F34C6-1F9F-AA48-92F2-401878F4D395}"/>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grpSp>
          <p:nvGrpSpPr>
            <p:cNvPr id="19" name="Group 18">
              <a:extLst>
                <a:ext uri="{FF2B5EF4-FFF2-40B4-BE49-F238E27FC236}">
                  <a16:creationId xmlns:a16="http://schemas.microsoft.com/office/drawing/2014/main" id="{BB4E4298-2473-394D-B497-59D1618497EB}"/>
                </a:ext>
              </a:extLst>
            </p:cNvPr>
            <p:cNvGrpSpPr/>
            <p:nvPr userDrawn="1"/>
          </p:nvGrpSpPr>
          <p:grpSpPr>
            <a:xfrm>
              <a:off x="422970" y="4298510"/>
              <a:ext cx="725830" cy="853727"/>
              <a:chOff x="422970" y="4298510"/>
              <a:chExt cx="725830" cy="853727"/>
            </a:xfrm>
          </p:grpSpPr>
          <p:sp>
            <p:nvSpPr>
              <p:cNvPr id="21" name="Rectangle 20">
                <a:extLst>
                  <a:ext uri="{FF2B5EF4-FFF2-40B4-BE49-F238E27FC236}">
                    <a16:creationId xmlns:a16="http://schemas.microsoft.com/office/drawing/2014/main" id="{DE0CA54A-3A83-A04B-BA02-C9EA07FAF4EE}"/>
                  </a:ext>
                </a:extLst>
              </p:cNvPr>
              <p:cNvSpPr/>
              <p:nvPr userDrawn="1"/>
            </p:nvSpPr>
            <p:spPr>
              <a:xfrm>
                <a:off x="583872" y="4456709"/>
                <a:ext cx="407139" cy="69552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B066C393-1D04-3B4A-A36D-C9461F0FFF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970" y="4298510"/>
                <a:ext cx="725830" cy="797138"/>
              </a:xfrm>
              <a:prstGeom prst="rect">
                <a:avLst/>
              </a:prstGeom>
            </p:spPr>
          </p:pic>
        </p:grpSp>
      </p:grpSp>
    </p:spTree>
    <p:extLst>
      <p:ext uri="{BB962C8B-B14F-4D97-AF65-F5344CB8AC3E}">
        <p14:creationId xmlns:p14="http://schemas.microsoft.com/office/powerpoint/2010/main" val="2354721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0" name="TextBox 9"/>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1" name="TextBox 10"/>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4" name="Title 13"/>
          <p:cNvSpPr>
            <a:spLocks noGrp="1"/>
          </p:cNvSpPr>
          <p:nvPr>
            <p:ph type="title" hasCustomPrompt="1"/>
          </p:nvPr>
        </p:nvSpPr>
        <p:spPr>
          <a:xfrm>
            <a:off x="506694" y="2274522"/>
            <a:ext cx="6802482" cy="656910"/>
          </a:xfrm>
          <a:prstGeom prst="rect">
            <a:avLst/>
          </a:prstGeom>
        </p:spPr>
        <p:txBody>
          <a:bodyPr anchor="ctr">
            <a:noAutofit/>
          </a:bodyPr>
          <a:lstStyle>
            <a:lvl1pPr>
              <a:defRPr sz="4000" b="1" i="0" spc="0" baseline="0">
                <a:solidFill>
                  <a:srgbClr val="FFFFFF"/>
                </a:solidFill>
                <a:latin typeface="Arial"/>
                <a:cs typeface="Arial"/>
              </a:defRPr>
            </a:lvl1pPr>
          </a:lstStyle>
          <a:p>
            <a:r>
              <a:rPr lang="en-US" dirty="0"/>
              <a:t>Section Heading</a:t>
            </a:r>
          </a:p>
        </p:txBody>
      </p:sp>
      <p:sp>
        <p:nvSpPr>
          <p:cNvPr id="20" name="Text Placeholder 19"/>
          <p:cNvSpPr>
            <a:spLocks noGrp="1"/>
          </p:cNvSpPr>
          <p:nvPr>
            <p:ph type="body" sz="quarter" idx="10" hasCustomPrompt="1"/>
          </p:nvPr>
        </p:nvSpPr>
        <p:spPr>
          <a:xfrm>
            <a:off x="526131" y="2032786"/>
            <a:ext cx="3700462" cy="252412"/>
          </a:xfrm>
          <a:prstGeom prst="rect">
            <a:avLst/>
          </a:prstGeom>
        </p:spPr>
        <p:txBody>
          <a:bodyPr anchor="ctr">
            <a:noAutofit/>
          </a:bodyPr>
          <a:lstStyle>
            <a:lvl1pPr marL="0" indent="0">
              <a:buNone/>
              <a:defRPr sz="1400" b="1" i="0" spc="50" baseline="0">
                <a:solidFill>
                  <a:srgbClr val="A6A6A6"/>
                </a:solidFill>
                <a:latin typeface="Arial"/>
                <a:cs typeface="Arial"/>
              </a:defRPr>
            </a:lvl1pPr>
          </a:lstStyle>
          <a:p>
            <a:pPr lvl="0"/>
            <a:r>
              <a:rPr lang="en-US" dirty="0"/>
              <a:t>SECTION NUMBER OR SUBTITLE</a:t>
            </a:r>
          </a:p>
        </p:txBody>
      </p:sp>
      <p:sp>
        <p:nvSpPr>
          <p:cNvPr id="4" name="Rectangle 3"/>
          <p:cNvSpPr/>
          <p:nvPr userDrawn="1"/>
        </p:nvSpPr>
        <p:spPr>
          <a:xfrm>
            <a:off x="-14942" y="2032000"/>
            <a:ext cx="148614" cy="83670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6CE92844-5432-AA47-9FC3-157F0E3989E3}"/>
              </a:ext>
            </a:extLst>
          </p:cNvPr>
          <p:cNvGrpSpPr/>
          <p:nvPr userDrawn="1"/>
        </p:nvGrpSpPr>
        <p:grpSpPr>
          <a:xfrm>
            <a:off x="-30788" y="4298510"/>
            <a:ext cx="9228667" cy="853727"/>
            <a:chOff x="-30788" y="4298510"/>
            <a:chExt cx="9228667" cy="853727"/>
          </a:xfrm>
        </p:grpSpPr>
        <p:sp>
          <p:nvSpPr>
            <p:cNvPr id="13" name="Rectangle 12">
              <a:extLst>
                <a:ext uri="{FF2B5EF4-FFF2-40B4-BE49-F238E27FC236}">
                  <a16:creationId xmlns:a16="http://schemas.microsoft.com/office/drawing/2014/main" id="{C319ED4B-0453-FC4B-864C-901DEECE2F34}"/>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5B59AD9-99C6-4642-AACC-44F4B0D3A47C}"/>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grpSp>
          <p:nvGrpSpPr>
            <p:cNvPr id="16" name="Group 15">
              <a:extLst>
                <a:ext uri="{FF2B5EF4-FFF2-40B4-BE49-F238E27FC236}">
                  <a16:creationId xmlns:a16="http://schemas.microsoft.com/office/drawing/2014/main" id="{4D1BAF2D-D90C-9046-A414-36725E6FFE51}"/>
                </a:ext>
              </a:extLst>
            </p:cNvPr>
            <p:cNvGrpSpPr/>
            <p:nvPr userDrawn="1"/>
          </p:nvGrpSpPr>
          <p:grpSpPr>
            <a:xfrm>
              <a:off x="422970" y="4298510"/>
              <a:ext cx="725830" cy="853727"/>
              <a:chOff x="422970" y="4298510"/>
              <a:chExt cx="725830" cy="853727"/>
            </a:xfrm>
          </p:grpSpPr>
          <p:sp>
            <p:nvSpPr>
              <p:cNvPr id="17" name="Rectangle 16">
                <a:extLst>
                  <a:ext uri="{FF2B5EF4-FFF2-40B4-BE49-F238E27FC236}">
                    <a16:creationId xmlns:a16="http://schemas.microsoft.com/office/drawing/2014/main" id="{DD14026D-0215-0A48-8182-2F16D5B1FC53}"/>
                  </a:ext>
                </a:extLst>
              </p:cNvPr>
              <p:cNvSpPr/>
              <p:nvPr userDrawn="1"/>
            </p:nvSpPr>
            <p:spPr>
              <a:xfrm>
                <a:off x="583872" y="4456709"/>
                <a:ext cx="407139" cy="69552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92D5B06C-F6DF-0842-ABED-1C3D8078F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970" y="4298510"/>
                <a:ext cx="725830" cy="797138"/>
              </a:xfrm>
              <a:prstGeom prst="rect">
                <a:avLst/>
              </a:prstGeom>
            </p:spPr>
          </p:pic>
        </p:grpSp>
      </p:grpSp>
    </p:spTree>
    <p:extLst>
      <p:ext uri="{BB962C8B-B14F-4D97-AF65-F5344CB8AC3E}">
        <p14:creationId xmlns:p14="http://schemas.microsoft.com/office/powerpoint/2010/main" val="3457854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0499" y="510282"/>
            <a:ext cx="8004391" cy="699065"/>
          </a:xfrm>
          <a:prstGeom prst="rect">
            <a:avLst/>
          </a:prstGeom>
        </p:spPr>
        <p:txBody>
          <a:bodyPr>
            <a:normAutofit/>
          </a:bodyPr>
          <a:lstStyle>
            <a:lvl1pPr>
              <a:defRPr sz="3000" b="1" i="0" cap="none" spc="0">
                <a:solidFill>
                  <a:srgbClr val="404041"/>
                </a:solidFill>
                <a:latin typeface="Arial"/>
                <a:cs typeface="Arial"/>
              </a:defRPr>
            </a:lvl1pPr>
          </a:lstStyle>
          <a:p>
            <a:r>
              <a:rPr lang="en-US" dirty="0"/>
              <a:t>Click to edit master title style</a:t>
            </a:r>
          </a:p>
        </p:txBody>
      </p:sp>
      <p:sp>
        <p:nvSpPr>
          <p:cNvPr id="5" name="Rectangle 4"/>
          <p:cNvSpPr/>
          <p:nvPr userDrawn="1"/>
        </p:nvSpPr>
        <p:spPr>
          <a:xfrm>
            <a:off x="0" y="604610"/>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 Placeholder 19"/>
          <p:cNvSpPr>
            <a:spLocks noGrp="1"/>
          </p:cNvSpPr>
          <p:nvPr>
            <p:ph type="body" sz="quarter" idx="10" hasCustomPrompt="1"/>
          </p:nvPr>
        </p:nvSpPr>
        <p:spPr>
          <a:xfrm>
            <a:off x="4833956" y="179431"/>
            <a:ext cx="3700462" cy="252412"/>
          </a:xfrm>
          <a:prstGeom prst="rect">
            <a:avLst/>
          </a:prstGeom>
        </p:spPr>
        <p:txBody>
          <a:bodyPr>
            <a:noAutofit/>
          </a:bodyPr>
          <a:lstStyle>
            <a:lvl1pPr marL="0" indent="0" algn="r">
              <a:buNone/>
              <a:defRPr sz="1100" b="0" i="0" spc="0" baseline="0">
                <a:solidFill>
                  <a:schemeClr val="tx1"/>
                </a:solidFill>
                <a:latin typeface="Arial"/>
                <a:cs typeface="Arial"/>
              </a:defRPr>
            </a:lvl1pPr>
          </a:lstStyle>
          <a:p>
            <a:pPr lvl="0"/>
            <a:r>
              <a:rPr lang="en-US" dirty="0"/>
              <a:t>SECTION TITLE OR SUBTITLE</a:t>
            </a:r>
          </a:p>
        </p:txBody>
      </p:sp>
      <p:sp>
        <p:nvSpPr>
          <p:cNvPr id="4" name="TextBox 3"/>
          <p:cNvSpPr txBox="1"/>
          <p:nvPr userDrawn="1"/>
        </p:nvSpPr>
        <p:spPr>
          <a:xfrm>
            <a:off x="3556000" y="3541059"/>
            <a:ext cx="184666" cy="369332"/>
          </a:xfrm>
          <a:prstGeom prst="rect">
            <a:avLst/>
          </a:prstGeom>
          <a:noFill/>
        </p:spPr>
        <p:txBody>
          <a:bodyPr wrap="none" rtlCol="0">
            <a:spAutoFit/>
          </a:bodyPr>
          <a:lstStyle/>
          <a:p>
            <a:endParaRPr lang="en-US" dirty="0"/>
          </a:p>
        </p:txBody>
      </p:sp>
      <p:sp>
        <p:nvSpPr>
          <p:cNvPr id="7" name="Text Placeholder 2"/>
          <p:cNvSpPr>
            <a:spLocks noGrp="1"/>
          </p:cNvSpPr>
          <p:nvPr>
            <p:ph idx="1" hasCustomPrompt="1"/>
          </p:nvPr>
        </p:nvSpPr>
        <p:spPr>
          <a:xfrm>
            <a:off x="366426" y="1322876"/>
            <a:ext cx="8015594" cy="281063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a:solidFill>
                  <a:srgbClr val="404041"/>
                </a:solidFill>
                <a:latin typeface="Arial"/>
                <a:cs typeface="Arial"/>
              </a:defRPr>
            </a:lvl1pPr>
            <a:lvl2pPr>
              <a:lnSpc>
                <a:spcPct val="100000"/>
              </a:lnSpc>
              <a:defRPr sz="1600">
                <a:solidFill>
                  <a:srgbClr val="404041"/>
                </a:solidFill>
                <a:latin typeface="Arial"/>
                <a:cs typeface="Arial"/>
              </a:defRPr>
            </a:lvl2pPr>
            <a:lvl3pPr>
              <a:lnSpc>
                <a:spcPct val="100000"/>
              </a:lnSpc>
              <a:defRPr sz="1600">
                <a:solidFill>
                  <a:srgbClr val="404041"/>
                </a:solidFill>
                <a:latin typeface="Arial"/>
                <a:cs typeface="Arial"/>
              </a:defRPr>
            </a:lvl3pPr>
            <a:lvl4pPr>
              <a:lnSpc>
                <a:spcPct val="100000"/>
              </a:lnSpc>
              <a:defRPr sz="1600">
                <a:solidFill>
                  <a:srgbClr val="404041"/>
                </a:solidFill>
                <a:latin typeface="Arial"/>
                <a:cs typeface="Arial"/>
              </a:defRPr>
            </a:lvl4pPr>
            <a:lvl5pPr>
              <a:lnSpc>
                <a:spcPct val="100000"/>
              </a:lnSpc>
              <a:defRPr sz="1600">
                <a:solidFill>
                  <a:srgbClr val="404041"/>
                </a:solidFill>
                <a:latin typeface="Arial"/>
                <a:cs typeface="Arial"/>
              </a:defRPr>
            </a:lvl5pPr>
          </a:lstStyle>
          <a:p>
            <a:pPr lvl="0"/>
            <a:r>
              <a:rPr lang="en-US" dirty="0"/>
              <a:t>Click to edit master subtitle style</a:t>
            </a:r>
          </a:p>
        </p:txBody>
      </p:sp>
      <p:grpSp>
        <p:nvGrpSpPr>
          <p:cNvPr id="9" name="Group 8">
            <a:extLst>
              <a:ext uri="{FF2B5EF4-FFF2-40B4-BE49-F238E27FC236}">
                <a16:creationId xmlns:a16="http://schemas.microsoft.com/office/drawing/2014/main" id="{0B3A402F-84DE-3648-943C-F947B742644A}"/>
              </a:ext>
            </a:extLst>
          </p:cNvPr>
          <p:cNvGrpSpPr/>
          <p:nvPr userDrawn="1"/>
        </p:nvGrpSpPr>
        <p:grpSpPr>
          <a:xfrm>
            <a:off x="-30788" y="4298510"/>
            <a:ext cx="9228667" cy="853727"/>
            <a:chOff x="-30788" y="4298510"/>
            <a:chExt cx="9228667" cy="853727"/>
          </a:xfrm>
        </p:grpSpPr>
        <p:sp>
          <p:nvSpPr>
            <p:cNvPr id="10" name="Rectangle 9">
              <a:extLst>
                <a:ext uri="{FF2B5EF4-FFF2-40B4-BE49-F238E27FC236}">
                  <a16:creationId xmlns:a16="http://schemas.microsoft.com/office/drawing/2014/main" id="{B4E396F1-F31B-F44E-94EB-2D879CB9F1C8}"/>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EC012D6-6963-1C4C-82CB-78A98B57306A}"/>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grpSp>
          <p:nvGrpSpPr>
            <p:cNvPr id="12" name="Group 11">
              <a:extLst>
                <a:ext uri="{FF2B5EF4-FFF2-40B4-BE49-F238E27FC236}">
                  <a16:creationId xmlns:a16="http://schemas.microsoft.com/office/drawing/2014/main" id="{9FE0A3E8-2C3C-CF46-A1A4-EE6D0BA3FC9D}"/>
                </a:ext>
              </a:extLst>
            </p:cNvPr>
            <p:cNvGrpSpPr/>
            <p:nvPr userDrawn="1"/>
          </p:nvGrpSpPr>
          <p:grpSpPr>
            <a:xfrm>
              <a:off x="422970" y="4298510"/>
              <a:ext cx="725830" cy="853727"/>
              <a:chOff x="422970" y="4298510"/>
              <a:chExt cx="725830" cy="853727"/>
            </a:xfrm>
          </p:grpSpPr>
          <p:sp>
            <p:nvSpPr>
              <p:cNvPr id="14" name="Rectangle 13">
                <a:extLst>
                  <a:ext uri="{FF2B5EF4-FFF2-40B4-BE49-F238E27FC236}">
                    <a16:creationId xmlns:a16="http://schemas.microsoft.com/office/drawing/2014/main" id="{B226430D-4079-4B41-9842-41583BFE0C9D}"/>
                  </a:ext>
                </a:extLst>
              </p:cNvPr>
              <p:cNvSpPr/>
              <p:nvPr userDrawn="1"/>
            </p:nvSpPr>
            <p:spPr>
              <a:xfrm>
                <a:off x="583872" y="4456709"/>
                <a:ext cx="407139" cy="69552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EB69E89-B821-FD42-BA2A-E2E3A1CD5B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970" y="4298510"/>
                <a:ext cx="725830" cy="797138"/>
              </a:xfrm>
              <a:prstGeom prst="rect">
                <a:avLst/>
              </a:prstGeom>
            </p:spPr>
          </p:pic>
        </p:grpSp>
      </p:grpSp>
    </p:spTree>
    <p:extLst>
      <p:ext uri="{BB962C8B-B14F-4D97-AF65-F5344CB8AC3E}">
        <p14:creationId xmlns:p14="http://schemas.microsoft.com/office/powerpoint/2010/main" val="3682060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5303" y="464386"/>
            <a:ext cx="4560579" cy="779318"/>
          </a:xfrm>
          <a:prstGeom prst="rect">
            <a:avLst/>
          </a:prstGeom>
        </p:spPr>
        <p:txBody>
          <a:bodyPr vert="horz" lIns="91440" tIns="45720" rIns="91440" bIns="45720" rtlCol="0" anchor="ctr">
            <a:noAutofit/>
          </a:bodyPr>
          <a:lstStyle>
            <a:lvl1pPr>
              <a:defRPr sz="3000" b="1" i="0" spc="0">
                <a:solidFill>
                  <a:srgbClr val="40404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25303" y="1629405"/>
            <a:ext cx="4560579" cy="2792362"/>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rgbClr val="404041"/>
                </a:solidFill>
                <a:latin typeface="Arial"/>
                <a:cs typeface="Arial"/>
              </a:defRPr>
            </a:lvl1pPr>
            <a:lvl2pPr marL="742950" indent="-285750">
              <a:lnSpc>
                <a:spcPct val="100000"/>
              </a:lnSpc>
              <a:buFont typeface="Arial"/>
              <a:buChar char="•"/>
              <a:defRPr sz="1800">
                <a:solidFill>
                  <a:srgbClr val="404041"/>
                </a:solidFill>
                <a:latin typeface="Arial"/>
                <a:cs typeface="Arial"/>
              </a:defRPr>
            </a:lvl2pPr>
            <a:lvl3pPr marL="1143000" indent="-228600">
              <a:lnSpc>
                <a:spcPct val="100000"/>
              </a:lnSpc>
              <a:buFont typeface="Arial"/>
              <a:buChar char="•"/>
              <a:defRPr sz="1800">
                <a:solidFill>
                  <a:srgbClr val="404041"/>
                </a:solidFill>
                <a:latin typeface="Arial"/>
                <a:cs typeface="Arial"/>
              </a:defRPr>
            </a:lvl3pPr>
            <a:lvl4pPr marL="1600200" indent="-228600">
              <a:lnSpc>
                <a:spcPct val="100000"/>
              </a:lnSpc>
              <a:buFont typeface="Arial"/>
              <a:buChar char="•"/>
              <a:defRPr sz="1800">
                <a:solidFill>
                  <a:srgbClr val="404041"/>
                </a:solidFill>
                <a:latin typeface="Arial"/>
                <a:cs typeface="Arial"/>
              </a:defRPr>
            </a:lvl4pPr>
            <a:lvl5pPr marL="2057400" indent="-228600">
              <a:lnSpc>
                <a:spcPct val="100000"/>
              </a:lnSpc>
              <a:buFont typeface="Arial"/>
              <a:buChar char="•"/>
              <a:defRPr sz="1800">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73058" y="0"/>
            <a:ext cx="3570941" cy="5143500"/>
          </a:xfrm>
          <a:prstGeom prst="rect">
            <a:avLst/>
          </a:prstGeom>
        </p:spPr>
        <p:txBody>
          <a:bodyPr/>
          <a:lstStyle/>
          <a:p>
            <a:r>
              <a:rPr lang="en-US"/>
              <a:t>Click icon to add picture</a:t>
            </a:r>
            <a:endParaRPr lang="en-US" dirty="0"/>
          </a:p>
        </p:txBody>
      </p:sp>
      <p:grpSp>
        <p:nvGrpSpPr>
          <p:cNvPr id="9" name="Group 8">
            <a:extLst>
              <a:ext uri="{FF2B5EF4-FFF2-40B4-BE49-F238E27FC236}">
                <a16:creationId xmlns:a16="http://schemas.microsoft.com/office/drawing/2014/main" id="{F5928226-E43E-9A42-8F2D-CC86E47C5643}"/>
              </a:ext>
            </a:extLst>
          </p:cNvPr>
          <p:cNvGrpSpPr/>
          <p:nvPr userDrawn="1"/>
        </p:nvGrpSpPr>
        <p:grpSpPr>
          <a:xfrm>
            <a:off x="-30788" y="4298510"/>
            <a:ext cx="9228667" cy="853727"/>
            <a:chOff x="-30788" y="4298510"/>
            <a:chExt cx="9228667" cy="853727"/>
          </a:xfrm>
        </p:grpSpPr>
        <p:sp>
          <p:nvSpPr>
            <p:cNvPr id="11" name="Rectangle 10">
              <a:extLst>
                <a:ext uri="{FF2B5EF4-FFF2-40B4-BE49-F238E27FC236}">
                  <a16:creationId xmlns:a16="http://schemas.microsoft.com/office/drawing/2014/main" id="{44D5977E-D878-7A43-BF6A-D4E3AD5B28B6}"/>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75CD740-FF84-DB42-B0C7-54BCF89FF22C}"/>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grpSp>
          <p:nvGrpSpPr>
            <p:cNvPr id="15" name="Group 14">
              <a:extLst>
                <a:ext uri="{FF2B5EF4-FFF2-40B4-BE49-F238E27FC236}">
                  <a16:creationId xmlns:a16="http://schemas.microsoft.com/office/drawing/2014/main" id="{70CC3031-F52B-0E4F-8E6F-2551722B6AA6}"/>
                </a:ext>
              </a:extLst>
            </p:cNvPr>
            <p:cNvGrpSpPr/>
            <p:nvPr userDrawn="1"/>
          </p:nvGrpSpPr>
          <p:grpSpPr>
            <a:xfrm>
              <a:off x="422970" y="4298510"/>
              <a:ext cx="725830" cy="853727"/>
              <a:chOff x="422970" y="4298510"/>
              <a:chExt cx="725830" cy="853727"/>
            </a:xfrm>
          </p:grpSpPr>
          <p:sp>
            <p:nvSpPr>
              <p:cNvPr id="16" name="Rectangle 15">
                <a:extLst>
                  <a:ext uri="{FF2B5EF4-FFF2-40B4-BE49-F238E27FC236}">
                    <a16:creationId xmlns:a16="http://schemas.microsoft.com/office/drawing/2014/main" id="{2615DAA7-B7DE-6E4D-81FC-313480E27A9B}"/>
                  </a:ext>
                </a:extLst>
              </p:cNvPr>
              <p:cNvSpPr/>
              <p:nvPr userDrawn="1"/>
            </p:nvSpPr>
            <p:spPr>
              <a:xfrm>
                <a:off x="583872" y="4456709"/>
                <a:ext cx="407139" cy="69552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AEF6C903-6A3A-9148-AD8A-19BEB5E900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970" y="4298510"/>
                <a:ext cx="725830" cy="797138"/>
              </a:xfrm>
              <a:prstGeom prst="rect">
                <a:avLst/>
              </a:prstGeom>
            </p:spPr>
          </p:pic>
        </p:grpSp>
      </p:grpSp>
      <p:sp>
        <p:nvSpPr>
          <p:cNvPr id="14" name="Rectangle 13">
            <a:extLst>
              <a:ext uri="{FF2B5EF4-FFF2-40B4-BE49-F238E27FC236}">
                <a16:creationId xmlns:a16="http://schemas.microsoft.com/office/drawing/2014/main" id="{3913B757-E8CF-584A-BD70-2E79D9DDD41F}"/>
              </a:ext>
            </a:extLst>
          </p:cNvPr>
          <p:cNvSpPr/>
          <p:nvPr userDrawn="1"/>
        </p:nvSpPr>
        <p:spPr>
          <a:xfrm>
            <a:off x="0" y="604610"/>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0382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0CD019-6D45-4D4A-AEB0-E2AC73E8811D}"/>
              </a:ext>
            </a:extLst>
          </p:cNvPr>
          <p:cNvSpPr/>
          <p:nvPr userDrawn="1"/>
        </p:nvSpPr>
        <p:spPr>
          <a:xfrm>
            <a:off x="-30788" y="4650465"/>
            <a:ext cx="9228667" cy="540015"/>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DAC8DF18-3E60-B247-B893-BB8BFC859846}"/>
              </a:ext>
            </a:extLst>
          </p:cNvPr>
          <p:cNvGrpSpPr/>
          <p:nvPr userDrawn="1"/>
        </p:nvGrpSpPr>
        <p:grpSpPr>
          <a:xfrm>
            <a:off x="-30788" y="4298510"/>
            <a:ext cx="9228667" cy="853727"/>
            <a:chOff x="-30788" y="4298510"/>
            <a:chExt cx="9228667" cy="853727"/>
          </a:xfrm>
        </p:grpSpPr>
        <p:sp>
          <p:nvSpPr>
            <p:cNvPr id="5" name="Rectangle 4">
              <a:extLst>
                <a:ext uri="{FF2B5EF4-FFF2-40B4-BE49-F238E27FC236}">
                  <a16:creationId xmlns:a16="http://schemas.microsoft.com/office/drawing/2014/main" id="{6588C768-7285-E342-A158-C512EEA47842}"/>
                </a:ext>
              </a:extLst>
            </p:cNvPr>
            <p:cNvSpPr/>
            <p:nvPr userDrawn="1"/>
          </p:nvSpPr>
          <p:spPr>
            <a:xfrm>
              <a:off x="-30788" y="4650466"/>
              <a:ext cx="9228667" cy="501771"/>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C1681DC-5005-2849-B1CC-16C372DA3974}"/>
                </a:ext>
              </a:extLst>
            </p:cNvPr>
            <p:cNvSpPr txBox="1"/>
            <p:nvPr userDrawn="1"/>
          </p:nvSpPr>
          <p:spPr>
            <a:xfrm>
              <a:off x="2576311" y="4704060"/>
              <a:ext cx="6159437" cy="338554"/>
            </a:xfrm>
            <a:prstGeom prst="rect">
              <a:avLst/>
            </a:prstGeom>
            <a:noFill/>
          </p:spPr>
          <p:txBody>
            <a:bodyPr wrap="square" rtlCol="0" anchor="ctr">
              <a:spAutoFit/>
            </a:bodyPr>
            <a:lstStyle/>
            <a:p>
              <a:pPr algn="r"/>
              <a:r>
                <a:rPr lang="en-US" sz="1600" b="1" dirty="0">
                  <a:solidFill>
                    <a:schemeClr val="bg1"/>
                  </a:solidFill>
                </a:rPr>
                <a:t>INDIANA UNIVERSITY SCHOOL OF MEDICINE</a:t>
              </a:r>
            </a:p>
          </p:txBody>
        </p:sp>
        <p:grpSp>
          <p:nvGrpSpPr>
            <p:cNvPr id="7" name="Group 6">
              <a:extLst>
                <a:ext uri="{FF2B5EF4-FFF2-40B4-BE49-F238E27FC236}">
                  <a16:creationId xmlns:a16="http://schemas.microsoft.com/office/drawing/2014/main" id="{1E6BB39A-1C79-7140-8CC6-D2D016540907}"/>
                </a:ext>
              </a:extLst>
            </p:cNvPr>
            <p:cNvGrpSpPr/>
            <p:nvPr userDrawn="1"/>
          </p:nvGrpSpPr>
          <p:grpSpPr>
            <a:xfrm>
              <a:off x="422970" y="4298510"/>
              <a:ext cx="725830" cy="853727"/>
              <a:chOff x="422970" y="4298510"/>
              <a:chExt cx="725830" cy="853727"/>
            </a:xfrm>
          </p:grpSpPr>
          <p:sp>
            <p:nvSpPr>
              <p:cNvPr id="8" name="Rectangle 7">
                <a:extLst>
                  <a:ext uri="{FF2B5EF4-FFF2-40B4-BE49-F238E27FC236}">
                    <a16:creationId xmlns:a16="http://schemas.microsoft.com/office/drawing/2014/main" id="{D64E8045-FA2D-D548-90FD-0C9CC61789AB}"/>
                  </a:ext>
                </a:extLst>
              </p:cNvPr>
              <p:cNvSpPr/>
              <p:nvPr userDrawn="1"/>
            </p:nvSpPr>
            <p:spPr>
              <a:xfrm>
                <a:off x="583872" y="4456709"/>
                <a:ext cx="407139" cy="69552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FDAB4E97-D59E-2D4B-B31D-9BB4153AA9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970" y="4298510"/>
                <a:ext cx="725830" cy="797138"/>
              </a:xfrm>
              <a:prstGeom prst="rect">
                <a:avLst/>
              </a:prstGeom>
            </p:spPr>
          </p:pic>
        </p:grpSp>
      </p:grpSp>
      <p:sp>
        <p:nvSpPr>
          <p:cNvPr id="12" name="Rectangle 11">
            <a:extLst>
              <a:ext uri="{FF2B5EF4-FFF2-40B4-BE49-F238E27FC236}">
                <a16:creationId xmlns:a16="http://schemas.microsoft.com/office/drawing/2014/main" id="{CCAEAE6F-04FE-6F48-8CE8-B51096938E5F}"/>
              </a:ext>
            </a:extLst>
          </p:cNvPr>
          <p:cNvSpPr/>
          <p:nvPr userDrawn="1"/>
        </p:nvSpPr>
        <p:spPr>
          <a:xfrm>
            <a:off x="0" y="604610"/>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15652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83" r:id="rId1"/>
    <p:sldLayoutId id="2147493482" r:id="rId2"/>
    <p:sldLayoutId id="2147493469" r:id="rId3"/>
    <p:sldLayoutId id="2147493478" r:id="rId4"/>
    <p:sldLayoutId id="2147493467" r:id="rId5"/>
    <p:sldLayoutId id="2147493472" r:id="rId6"/>
    <p:sldLayoutId id="2147493457" r:id="rId7"/>
    <p:sldLayoutId id="2147493475" r:id="rId8"/>
  </p:sldLayoutIdLst>
  <p:txStyles>
    <p:titleStyle>
      <a:lvl1pPr algn="l" defTabSz="457200" rtl="0" eaLnBrk="1" latinLnBrk="0" hangingPunct="1">
        <a:spcBef>
          <a:spcPct val="0"/>
        </a:spcBef>
        <a:buNone/>
        <a:defRPr sz="3200" b="1" i="0" kern="100" spc="0">
          <a:solidFill>
            <a:schemeClr val="tx1"/>
          </a:solidFill>
          <a:latin typeface="Arial"/>
          <a:ea typeface="+mj-ea"/>
          <a:cs typeface="Arial"/>
        </a:defRPr>
      </a:lvl1pPr>
    </p:titleStyle>
    <p:bodyStyle>
      <a:lvl1pPr marL="342900" indent="-34290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Char char="§"/>
        <a:defRPr sz="1800" kern="120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Notes" Type="http://schemas.openxmlformats.org/officeDocument/2006/relationships/notesSlide" Target="../notesSlides/notesSlide10.xml"/></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2.xml"/></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6.xml"/>
<Relationship Id="rIdLink1" Type="http://schemas.openxmlformats.org/officeDocument/2006/relationships/hyperlink" Target="https://ittraining.iu.edu/explore-topics/titles/scfes/index.html" TargetMode="External"/><Relationship Id="rIdLink2" Type="http://schemas.openxmlformats.org/officeDocument/2006/relationships/hyperlink" Target="https://indianactsi.org/research/data-informatics/ai-resources/ai-workshop-series/" TargetMode="External"/><Relationship Id="rIdLink3" Type="http://schemas.openxmlformats.org/officeDocument/2006/relationships/hyperlink" Target="https://research.iu.edu/research-networks/ai" TargetMode="External"/><Relationship Id="rIdNotes" Type="http://schemas.openxmlformats.org/officeDocument/2006/relationships/notesSlide" Target="../notesSlides/notesSlide3.xml"/></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4.xml"/></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6.xml"/>
<Relationship Id="rIdLink1" Type="http://schemas.openxmlformats.org/officeDocument/2006/relationships/hyperlink" Target="https://researchdata.iu.edu/resource-catalog/about-reallms-at-iu/index.html" TargetMode="External"/><Relationship Id="rIdNotes" Type="http://schemas.openxmlformats.org/officeDocument/2006/relationships/notesSlide" Target="../notesSlides/notesSlide5.xml"/></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6.xml"/></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7.xml"/></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8.xml"/></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9.xml"/></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6.xml"/>
<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4.xml"/>
<Relationship Id="rIdLink1" Type="http://schemas.openxmlformats.org/officeDocument/2006/relationships/hyperlink" Target="https://ai-workshop.compgenlab.org" TargetMode="Externa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1656716-D8E9-2240-931F-4E230DB1E367}"/>
              </a:ext>
            </a:extLst>
          </p:cNvPr>
          <p:cNvSpPr>
            <a:spLocks noGrp="1"/>
          </p:cNvSpPr>
          <p:nvPr>
            <p:ph type="title"/>
          </p:nvPr>
        </p:nvSpPr>
        <p:spPr/>
        <p:txBody>
          <a:bodyPr>
            <a:normAutofit fontScale="90000"/>
          </a:bodyPr>
          <a:lstStyle/>
          <a:p>
            <a:br>
              <a:rPr lang="en-US" sz="3100" b="0" dirty="0"/>
            </a:br>
            <a:r>
              <a:rPr lang="en-US" sz="3100" b="0" dirty="0"/>
              <a:t>IUSM – Office of Data Science and AI</a:t>
            </a:r>
            <a:br>
              <a:rPr lang="en-US" dirty="0"/>
            </a:br>
            <a:r>
              <a:rPr lang="en-US" dirty="0"/>
              <a:t>AI Education Initiatives</a:t>
            </a:r>
            <a:br>
              <a:rPr lang="en-US" dirty="0"/>
            </a:br>
            <a:endParaRPr lang="en-US" dirty="0"/>
          </a:p>
        </p:txBody>
      </p:sp>
      <p:sp>
        <p:nvSpPr>
          <p:cNvPr id="14" name="Text Placeholder 13">
            <a:extLst>
              <a:ext uri="{FF2B5EF4-FFF2-40B4-BE49-F238E27FC236}">
                <a16:creationId xmlns:a16="http://schemas.microsoft.com/office/drawing/2014/main" id="{D853F2B4-2BF6-944D-AA02-312B21CB791D}"/>
              </a:ext>
            </a:extLst>
          </p:cNvPr>
          <p:cNvSpPr>
            <a:spLocks noGrp="1"/>
          </p:cNvSpPr>
          <p:nvPr>
            <p:ph type="body" sz="quarter" idx="12"/>
          </p:nvPr>
        </p:nvSpPr>
        <p:spPr/>
        <p:txBody>
          <a:bodyPr/>
          <a:lstStyle/>
          <a:p>
            <a:r>
              <a:rPr lang="en-US" dirty="0"/>
              <a:t>Marcus R. Breese, PhD</a:t>
            </a:r>
          </a:p>
        </p:txBody>
      </p:sp>
      <p:sp>
        <p:nvSpPr>
          <p:cNvPr id="13" name="Text Placeholder 12">
            <a:extLst>
              <a:ext uri="{FF2B5EF4-FFF2-40B4-BE49-F238E27FC236}">
                <a16:creationId xmlns:a16="http://schemas.microsoft.com/office/drawing/2014/main" id="{1B41BC56-12C1-9A4C-B783-5C7F2038DB49}"/>
              </a:ext>
            </a:extLst>
          </p:cNvPr>
          <p:cNvSpPr>
            <a:spLocks noGrp="1"/>
          </p:cNvSpPr>
          <p:nvPr>
            <p:ph type="body" sz="quarter" idx="11"/>
          </p:nvPr>
        </p:nvSpPr>
        <p:spPr/>
        <p:txBody>
          <a:bodyPr/>
          <a:lstStyle/>
          <a:p>
            <a:r>
              <a:rPr lang="en-US" dirty="0"/>
              <a:t>CCBB Retreat 2026</a:t>
            </a:r>
          </a:p>
        </p:txBody>
      </p:sp>
    </p:spTree>
    <p:extLst>
      <p:ext uri="{BB962C8B-B14F-4D97-AF65-F5344CB8AC3E}">
        <p14:creationId xmlns:p14="http://schemas.microsoft.com/office/powerpoint/2010/main" val="2561148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AI Tools for Biomedical Researchers</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txBox="1"/>
          <p:nvPr/>
        </p:nvSpPr>
        <p:spPr>
          <a:xfrm>
            <a:off x="365760" y="1280160"/>
            <a:ext cx="8001000" cy="365760"/>
          </a:xfrm>
          <a:prstGeom prst="rect">
            <a:avLst/>
          </a:prstGeom>
          <a:noFill/>
          <a:ln>
            <a:noFill/>
          </a:ln>
        </p:spPr>
        <p:txBody>
          <a:bodyPr wrap="square" lIns="0" tIns="0" rIns="0" bIns="0" anchor="t"/>
          <a:lstStyle/>
          <a:p>
            <a:pPr algn="l" marL="0" indent="0">
              <a:buNone/>
            </a:pPr>
            <a:r>
              <a:rPr lang="en-US" sz="1600" b="1" dirty="0">
                <a:solidFill>
                  <a:srgbClr val="404041"/>
                </a:solidFill>
              </a:rPr>
              <a:t>We’re planning a hands-on workshop</a:t>
            </a:r>
          </a:p>
        </p:txBody>
      </p:sp>
      <p:sp>
        <p:nvSpPr>
          <p:cNvPr id="6" name="TextBox 6"/>
          <p:cNvSpPr/>
          <p:nvPr/>
        </p:nvSpPr>
        <p:spPr>
          <a:xfrm>
            <a:off x="365760" y="1783080"/>
            <a:ext cx="2514600" cy="1234440"/>
          </a:xfrm>
          <a:prstGeom prst="rect">
            <a:avLst/>
          </a:prstGeom>
          <a:solidFill>
            <a:srgbClr val="F3F1EF"/>
          </a:solidFill>
          <a:ln>
            <a:noFill/>
          </a:ln>
        </p:spPr>
        <p:txBody>
          <a:bodyPr wrap="square" lIns="137160" tIns="109728" rIns="137160" bIns="109728" anchor="t"/>
          <a:lstStyle/>
          <a:p>
            <a:pPr algn="l" marL="0" indent="0">
              <a:spcAft>
                <a:spcPts val="200"/>
              </a:spcAft>
              <a:buNone/>
            </a:pPr>
            <a:r>
              <a:rPr lang="en-US" sz="2800" b="1" dirty="0">
                <a:solidFill>
                  <a:srgbClr val="990000"/>
                </a:solidFill>
              </a:rPr>
              <a:t>3</a:t>
            </a:r>
          </a:p>
          <a:p>
            <a:pPr algn="l" marL="0" indent="0">
              <a:buNone/>
            </a:pPr>
            <a:r>
              <a:rPr lang="en-US" sz="1400" dirty="0">
                <a:solidFill>
                  <a:srgbClr val="404041"/>
                </a:solidFill>
              </a:rPr>
              <a:t>weekly sessions, 3.5 hours each</a:t>
            </a:r>
          </a:p>
        </p:txBody>
      </p:sp>
      <p:sp>
        <p:nvSpPr>
          <p:cNvPr id="7" name="TextBox 7"/>
          <p:cNvSpPr/>
          <p:nvPr/>
        </p:nvSpPr>
        <p:spPr>
          <a:xfrm>
            <a:off x="3108960" y="1783080"/>
            <a:ext cx="2514600" cy="1234440"/>
          </a:xfrm>
          <a:prstGeom prst="rect">
            <a:avLst/>
          </a:prstGeom>
          <a:solidFill>
            <a:srgbClr val="F3F1EF"/>
          </a:solidFill>
          <a:ln>
            <a:noFill/>
          </a:ln>
        </p:spPr>
        <p:txBody>
          <a:bodyPr wrap="square" lIns="137160" tIns="109728" rIns="137160" bIns="109728" anchor="t"/>
          <a:lstStyle/>
          <a:p>
            <a:pPr algn="l" marL="0" indent="0">
              <a:spcAft>
                <a:spcPts val="200"/>
              </a:spcAft>
              <a:buNone/>
            </a:pPr>
            <a:r>
              <a:rPr lang="en-US" sz="2800" b="1" dirty="0">
                <a:solidFill>
                  <a:srgbClr val="990000"/>
                </a:solidFill>
              </a:rPr>
              <a:t>20–25</a:t>
            </a:r>
          </a:p>
          <a:p>
            <a:pPr algn="l" marL="0" indent="0">
              <a:buNone/>
            </a:pPr>
            <a:r>
              <a:rPr lang="en-US" sz="1400" dirty="0">
                <a:solidFill>
                  <a:srgbClr val="404041"/>
                </a:solidFill>
              </a:rPr>
              <a:t>participants per session, with TAs</a:t>
            </a:r>
          </a:p>
        </p:txBody>
      </p:sp>
      <p:sp>
        <p:nvSpPr>
          <p:cNvPr id="8" name="TextBox 8"/>
          <p:cNvSpPr/>
          <p:nvPr/>
        </p:nvSpPr>
        <p:spPr>
          <a:xfrm>
            <a:off x="5852160" y="1783080"/>
            <a:ext cx="2514600" cy="1234440"/>
          </a:xfrm>
          <a:prstGeom prst="rect">
            <a:avLst/>
          </a:prstGeom>
          <a:solidFill>
            <a:srgbClr val="F3F1EF"/>
          </a:solidFill>
          <a:ln>
            <a:noFill/>
          </a:ln>
        </p:spPr>
        <p:txBody>
          <a:bodyPr wrap="square" lIns="137160" tIns="109728" rIns="137160" bIns="109728" anchor="t"/>
          <a:lstStyle/>
          <a:p>
            <a:pPr algn="l" marL="0" indent="0">
              <a:spcAft>
                <a:spcPts val="200"/>
              </a:spcAft>
              <a:buNone/>
            </a:pPr>
            <a:r>
              <a:rPr lang="en-US" sz="2800" b="1" dirty="0">
                <a:solidFill>
                  <a:srgbClr val="990000"/>
                </a:solidFill>
              </a:rPr>
              <a:t>Hands-on</a:t>
            </a:r>
          </a:p>
          <a:p>
            <a:pPr algn="l" marL="0" indent="0">
              <a:buNone/>
            </a:pPr>
            <a:r>
              <a:rPr lang="en-US" sz="1400" dirty="0">
                <a:solidFill>
                  <a:srgbClr val="404041"/>
                </a:solidFill>
              </a:rPr>
              <a:t>a personal VM using IU REALLMS local LLMs</a:t>
            </a:r>
          </a:p>
        </p:txBody>
      </p:sp>
      <p:sp>
        <p:nvSpPr>
          <p:cNvPr id="9" name="TextBox 9"/>
          <p:cNvSpPr txBox="1"/>
          <p:nvPr/>
        </p:nvSpPr>
        <p:spPr>
          <a:xfrm>
            <a:off x="365760" y="3246120"/>
            <a:ext cx="8001000" cy="822960"/>
          </a:xfrm>
          <a:prstGeom prst="rect">
            <a:avLst/>
          </a:prstGeom>
          <a:noFill/>
          <a:ln>
            <a:noFill/>
          </a:ln>
        </p:spPr>
        <p:txBody>
          <a:bodyPr wrap="square" lIns="0" tIns="0" rIns="0" bIns="0" anchor="t"/>
          <a:lstStyle/>
          <a:p>
            <a:pPr algn="l" marL="0" indent="0">
              <a:buNone/>
            </a:pPr>
            <a:r>
              <a:rPr lang="en-US" sz="1500" dirty="0">
                <a:solidFill>
                  <a:srgbClr val="404041"/>
                </a:solidFill>
              </a:rPr>
              <a:t>Open to all IUSM research trainees (graduate students, postdocs, and clinical residents and fellows doing research rotations) and faculty.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AI training is spread across many units</a:t>
            </a:r>
          </a:p>
        </p:txBody>
      </p:sp>
      <p:sp>
        <p:nvSpPr>
          <p:cNvPr id="4" name="Header 4"/>
          <p:cNvSpPr>
            <a:spLocks noGrp="1"/>
          </p:cNvSpPr>
          <p:nvPr>
            <p:ph type="body" idx="10"/>
          </p:nvPr>
        </p:nvSpPr>
        <p:spPr/>
        <p:txBody>
          <a:bodyPr/>
          <a:lstStyle/>
          <a:p>
            <a:pPr algn="r"/>
            <a:r>
              <a:rPr lang="en-US" dirty="0"/>
              <a:t>CCBB Retreat 2026</a:t>
            </a:r>
          </a:p>
        </p:txBody>
      </p:sp>
      <p:sp>
        <p:nvSpPr>
          <p:cNvPr id="5" name="Card 5"/>
          <p:cNvSpPr/>
          <p:nvPr/>
        </p:nvSpPr>
        <p:spPr>
          <a:xfrm>
            <a:off x="365760" y="123444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UITS Research Technologies</a:t>
            </a:r>
          </a:p>
          <a:p>
            <a:pPr algn="l" marL="0" indent="0">
              <a:spcAft>
                <a:spcPts val="200"/>
              </a:spcAft>
              <a:buNone/>
            </a:pPr>
            <a:r>
              <a:rPr lang="en-US" sz="1300" dirty="0">
                <a:solidFill>
                  <a:srgbClr val="404041"/>
                </a:solidFill>
              </a:rPr>
              <a:t>HPC, GPU and LLM workshops</a:t>
            </a:r>
          </a:p>
        </p:txBody>
      </p:sp>
      <p:sp>
        <p:nvSpPr>
          <p:cNvPr id="6" name="Card 6"/>
          <p:cNvSpPr/>
          <p:nvPr/>
        </p:nvSpPr>
        <p:spPr>
          <a:xfrm>
            <a:off x="3108960" y="123444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IU Research</a:t>
            </a:r>
          </a:p>
          <a:p>
            <a:pPr algn="l" marL="0" indent="0">
              <a:spcAft>
                <a:spcPts val="200"/>
              </a:spcAft>
              <a:buNone/>
            </a:pPr>
            <a:r>
              <a:rPr lang="en-US" sz="1300" dirty="0">
                <a:solidFill>
                  <a:srgbClr val="404041"/>
                </a:solidFill>
              </a:rPr>
              <a:t>AI Research Network; AI Research Brown Bag Talk</a:t>
            </a:r>
          </a:p>
        </p:txBody>
      </p:sp>
      <p:sp>
        <p:nvSpPr>
          <p:cNvPr id="7" name="Card 7"/>
          <p:cNvSpPr/>
          <p:nvPr/>
        </p:nvSpPr>
        <p:spPr>
          <a:xfrm>
            <a:off x="5852160" y="123444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Indiana CTSI</a:t>
            </a:r>
          </a:p>
          <a:p>
            <a:pPr algn="l" marL="0" indent="0">
              <a:spcAft>
                <a:spcPts val="200"/>
              </a:spcAft>
              <a:buNone/>
            </a:pPr>
            <a:r>
              <a:rPr lang="en-US" sz="1300" dirty="0">
                <a:solidFill>
                  <a:srgbClr val="404041"/>
                </a:solidFill>
              </a:rPr>
              <a:t>Monthly AI Workshop Series for investigators</a:t>
            </a:r>
          </a:p>
        </p:txBody>
      </p:sp>
      <p:sp>
        <p:nvSpPr>
          <p:cNvPr id="8" name="Card 8"/>
          <p:cNvSpPr/>
          <p:nvPr/>
        </p:nvSpPr>
        <p:spPr>
          <a:xfrm>
            <a:off x="365760" y="233172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UITS Academic and AI Innovation</a:t>
            </a:r>
          </a:p>
          <a:p>
            <a:pPr algn="l" marL="0" indent="0">
              <a:spcAft>
                <a:spcPts val="200"/>
              </a:spcAft>
              <a:buNone/>
            </a:pPr>
            <a:r>
              <a:rPr lang="en-US" sz="1300" dirty="0">
                <a:solidFill>
                  <a:srgbClr val="404041"/>
                </a:solidFill>
              </a:rPr>
              <a:t>GenAI 101, office hours, faculty fellows</a:t>
            </a:r>
          </a:p>
        </p:txBody>
      </p:sp>
      <p:sp>
        <p:nvSpPr>
          <p:cNvPr id="9" name="Card 9"/>
          <p:cNvSpPr/>
          <p:nvPr/>
        </p:nvSpPr>
        <p:spPr>
          <a:xfrm>
            <a:off x="3108960" y="233172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Schools and centers</a:t>
            </a:r>
          </a:p>
          <a:p>
            <a:pPr algn="l" marL="0" indent="0">
              <a:spcAft>
                <a:spcPts val="200"/>
              </a:spcAft>
              <a:buNone/>
            </a:pPr>
            <a:r>
              <a:rPr lang="en-US" sz="1300" dirty="0">
                <a:solidFill>
                  <a:srgbClr val="404041"/>
                </a:solidFill>
              </a:rPr>
              <a:t>Luddy AI Center, Kelley, IU Libraries</a:t>
            </a:r>
          </a:p>
        </p:txBody>
      </p:sp>
      <p:sp>
        <p:nvSpPr>
          <p:cNvPr id="10" name="Card 10"/>
          <p:cNvSpPr/>
          <p:nvPr/>
        </p:nvSpPr>
        <p:spPr>
          <a:xfrm>
            <a:off x="5852160" y="2331720"/>
            <a:ext cx="2514600" cy="1005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400" b="1" dirty="0">
                <a:solidFill>
                  <a:srgbClr val="990000"/>
                </a:solidFill>
              </a:rPr>
              <a:t>IU School of Medicine</a:t>
            </a:r>
          </a:p>
          <a:p>
            <a:pPr algn="l" marL="0" indent="0">
              <a:spcAft>
                <a:spcPts val="200"/>
              </a:spcAft>
              <a:buNone/>
            </a:pPr>
            <a:r>
              <a:rPr lang="en-US" sz="1300" dirty="0">
                <a:solidFill>
                  <a:srgbClr val="404041"/>
                </a:solidFill>
              </a:rPr>
              <a:t>Departments, student groups, ODSAI</a:t>
            </a:r>
          </a:p>
        </p:txBody>
      </p:sp>
      <p:sp>
        <p:nvSpPr>
          <p:cNvPr id="11" name="TextBox 11"/>
          <p:cNvSpPr txBox="1"/>
          <p:nvPr/>
        </p:nvSpPr>
        <p:spPr>
          <a:xfrm>
            <a:off x="365760" y="3456432"/>
            <a:ext cx="8001000" cy="365760"/>
          </a:xfrm>
          <a:prstGeom prst="rect">
            <a:avLst/>
          </a:prstGeom>
          <a:noFill/>
          <a:ln>
            <a:noFill/>
          </a:ln>
        </p:spPr>
        <p:txBody>
          <a:bodyPr wrap="square" lIns="0" tIns="0" rIns="0" bIns="0" anchor="t"/>
          <a:lstStyle/>
          <a:p>
            <a:pPr algn="l" marL="0" indent="0">
              <a:buNone/>
            </a:pPr>
            <a:r>
              <a:rPr lang="en-US" sz="1500" b="1" dirty="0">
                <a:solidFill>
                  <a:srgbClr val="990000"/>
                </a:solidFill>
              </a:rPr>
              <a:t>ODSAI’s role: </a:t>
            </a:r>
            <a:r>
              <a:rPr lang="en-US" sz="1500" dirty="0">
                <a:solidFill>
                  <a:srgbClr val="404041"/>
                </a:solidFill>
              </a:rPr>
              <a:t>IUSM’s office to help you accelerate your research using AI.</a:t>
            </a:r>
          </a:p>
        </p:txBody>
      </p:sp>
      <p:sp>
        <p:nvSpPr>
          <p:cNvPr id="12" name="TextBox 12"/>
          <p:cNvSpPr txBox="1"/>
          <p:nvPr/>
        </p:nvSpPr>
        <p:spPr>
          <a:xfrm>
            <a:off x="365760" y="3858768"/>
            <a:ext cx="8001000" cy="320040"/>
          </a:xfrm>
          <a:prstGeom prst="rect">
            <a:avLst/>
          </a:prstGeom>
          <a:noFill/>
          <a:ln>
            <a:noFill/>
          </a:ln>
        </p:spPr>
        <p:txBody>
          <a:bodyPr wrap="square" lIns="0" tIns="0" rIns="0" bIns="0" anchor="t"/>
          <a:lstStyle/>
          <a:p>
            <a:pPr algn="l" marL="0" indent="0">
              <a:buNone/>
            </a:pPr>
            <a:r>
              <a:rPr lang="en-US" sz="1300" i="1" dirty="0">
                <a:solidFill>
                  <a:srgbClr val="6B6B6C"/>
                </a:solidFill>
              </a:rPr>
              <a:t>Not covered: IUSM’s efforts on AI in clinical education.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Where IUSM researchers can start</a:t>
            </a:r>
          </a:p>
        </p:txBody>
      </p:sp>
      <p:sp>
        <p:nvSpPr>
          <p:cNvPr id="4" name="Header 4"/>
          <p:cNvSpPr>
            <a:spLocks noGrp="1"/>
          </p:cNvSpPr>
          <p:nvPr>
            <p:ph type="body" idx="10"/>
          </p:nvPr>
        </p:nvSpPr>
        <p:spPr/>
        <p:txBody>
          <a:bodyPr/>
          <a:lstStyle/>
          <a:p>
            <a:pPr algn="r"/>
            <a:r>
              <a:rPr lang="en-US" dirty="0"/>
              <a:t>CCBB Retreat 2026</a:t>
            </a:r>
          </a:p>
        </p:txBody>
      </p:sp>
      <p:graphicFrame>
        <p:nvGraphicFramePr>
          <p:cNvPr id="5" name="Table 5"/>
          <p:cNvGraphicFramePr>
            <a:graphicFrameLocks noGrp="1"/>
          </p:cNvGraphicFramePr>
          <p:nvPr/>
        </p:nvGraphicFramePr>
        <p:xfrm>
          <a:off x="365760" y="1280160"/>
          <a:ext cx="8001000" cy="2770632"/>
        </p:xfrm>
        <a:graphic>
          <a:graphicData uri="http://schemas.openxmlformats.org/drawingml/2006/table">
            <a:tbl>
              <a:tblPr firstRow="1"/>
              <a:tblGrid>
                <a:gridCol w="2640330"/>
                <a:gridCol w="2000250"/>
                <a:gridCol w="3360420"/>
              </a:tblGrid>
              <a:tr h="384048">
                <a:tc>
                  <a:txBody>
                    <a:bodyPr/>
                    <a:lstStyle/>
                    <a:p>
                      <a:pPr algn="l" marL="0" indent="0">
                        <a:buNone/>
                      </a:pPr>
                      <a:r>
                        <a:rPr lang="en-US" sz="1300" b="1" dirty="0">
                          <a:solidFill>
                            <a:srgbClr val="FFFFFF"/>
                          </a:solidFill>
                        </a:rPr>
                        <a:t>Series</a:t>
                      </a:r>
                    </a:p>
                  </a:txBody>
                  <a:tcPr marL="109728" marR="109728" marT="36576" marB="36576" anchor="ctr">
                    <a:lnL>
                      <a:noFill/>
                    </a:lnL>
                    <a:lnR>
                      <a:noFill/>
                    </a:lnR>
                    <a:lnT>
                      <a:noFill/>
                    </a:lnT>
                    <a:lnB>
                      <a:noFill/>
                    </a:lnB>
                    <a:solidFill>
                      <a:srgbClr val="690304"/>
                    </a:solidFill>
                  </a:tcPr>
                </a:tc>
                <a:tc>
                  <a:txBody>
                    <a:bodyPr/>
                    <a:lstStyle/>
                    <a:p>
                      <a:pPr algn="l" marL="0" indent="0">
                        <a:buNone/>
                      </a:pPr>
                      <a:r>
                        <a:rPr lang="en-US" sz="1300" b="1" dirty="0">
                          <a:solidFill>
                            <a:srgbClr val="FFFFFF"/>
                          </a:solidFill>
                        </a:rPr>
                        <a:t>Run by</a:t>
                      </a:r>
                    </a:p>
                  </a:txBody>
                  <a:tcPr marL="109728" marR="109728" marT="36576" marB="36576" anchor="ctr">
                    <a:lnL>
                      <a:noFill/>
                    </a:lnL>
                    <a:lnR>
                      <a:noFill/>
                    </a:lnR>
                    <a:lnT>
                      <a:noFill/>
                    </a:lnT>
                    <a:lnB>
                      <a:noFill/>
                    </a:lnB>
                    <a:solidFill>
                      <a:srgbClr val="690304"/>
                    </a:solidFill>
                  </a:tcPr>
                </a:tc>
                <a:tc>
                  <a:txBody>
                    <a:bodyPr/>
                    <a:lstStyle/>
                    <a:p>
                      <a:pPr algn="l" marL="0" indent="0">
                        <a:buNone/>
                      </a:pPr>
                      <a:r>
                        <a:rPr lang="en-US" sz="1300" b="1" dirty="0">
                          <a:solidFill>
                            <a:srgbClr val="FFFFFF"/>
                          </a:solidFill>
                        </a:rPr>
                        <a:t>For example</a:t>
                      </a:r>
                    </a:p>
                  </a:txBody>
                  <a:tcPr marL="109728" marR="109728" marT="36576" marB="36576" anchor="ctr">
                    <a:lnL>
                      <a:noFill/>
                    </a:lnL>
                    <a:lnR>
                      <a:noFill/>
                    </a:lnR>
                    <a:lnT>
                      <a:noFill/>
                    </a:lnT>
                    <a:lnB>
                      <a:noFill/>
                    </a:lnB>
                    <a:solidFill>
                      <a:srgbClr val="690304"/>
                    </a:solidFill>
                  </a:tcPr>
                </a:tc>
              </a:tr>
              <a:tr h="502920">
                <a:tc>
                  <a:txBody>
                    <a:bodyPr/>
                    <a:lstStyle/>
                    <a:p>
                      <a:pPr algn="l" marL="0" indent="0">
                        <a:buNone/>
                      </a:pPr>
                      <a:r>
                        <a:rPr lang="en-US" sz="1300" dirty="0">
                          <a:solidFill>
                            <a:srgbClr val="404041"/>
                          </a:solidFill>
                        </a:rPr>
                        <a:t>Supercomputing for Everyone Series</a:t>
                      </a:r>
                    </a:p>
                  </a:txBody>
                  <a:tcPr marL="109728" marR="109728" marT="36576" marB="36576" anchor="ctr">
                    <a:lnL>
                      <a:noFill/>
                    </a:lnL>
                    <a:lnR>
                      <a:noFill/>
                    </a:lnR>
                    <a:lnT>
                      <a:noFill/>
                    </a:lnT>
                    <a:lnB>
                      <a:noFill/>
                    </a:lnB>
                    <a:solidFill>
                      <a:srgbClr val="FFFFFF"/>
                    </a:solidFill>
                  </a:tcPr>
                </a:tc>
                <a:tc>
                  <a:txBody>
                    <a:bodyPr/>
                    <a:lstStyle/>
                    <a:p>
                      <a:pPr algn="l" marL="0" indent="0">
                        <a:buNone/>
                      </a:pPr>
                      <a:r>
                        <a:rPr lang="en-US" sz="1300" dirty="0">
                          <a:solidFill>
                            <a:srgbClr val="404041"/>
                          </a:solidFill>
                        </a:rPr>
                        <a:t>UITS</a:t>
                      </a:r>
                    </a:p>
                  </a:txBody>
                  <a:tcPr marL="109728" marR="109728" marT="36576" marB="36576" anchor="ctr">
                    <a:lnL>
                      <a:noFill/>
                    </a:lnL>
                    <a:lnR>
                      <a:noFill/>
                    </a:lnR>
                    <a:lnT>
                      <a:noFill/>
                    </a:lnT>
                    <a:lnB>
                      <a:noFill/>
                    </a:lnB>
                    <a:solidFill>
                      <a:srgbClr val="FFFFFF"/>
                    </a:solidFill>
                  </a:tcPr>
                </a:tc>
                <a:tc>
                  <a:txBody>
                    <a:bodyPr/>
                    <a:lstStyle/>
                    <a:p>
                      <a:pPr algn="l" marL="0" indent="0">
                        <a:buNone/>
                      </a:pPr>
                      <a:r>
                        <a:rPr lang="en-US" sz="1300" dirty="0">
                          <a:solidFill>
                            <a:srgbClr val="404041"/>
                          </a:solidFill>
                        </a:rPr>
                        <a:t>LLMs on HPC; GPU Computing and AI on HPC</a:t>
                      </a:r>
                    </a:p>
                  </a:txBody>
                  <a:tcPr marL="109728" marR="109728" marT="36576" marB="36576" anchor="ctr">
                    <a:lnL>
                      <a:noFill/>
                    </a:lnL>
                    <a:lnR>
                      <a:noFill/>
                    </a:lnR>
                    <a:lnT>
                      <a:noFill/>
                    </a:lnT>
                    <a:lnB>
                      <a:noFill/>
                    </a:lnB>
                    <a:solidFill>
                      <a:srgbClr val="FFFFFF"/>
                    </a:solidFill>
                  </a:tcPr>
                </a:tc>
              </a:tr>
              <a:tr h="292608">
                <a:tc gridSpan="3">
                  <a:txBody>
                    <a:bodyPr/>
                    <a:lstStyle/>
                    <a:p>
                      <a:pPr algn="l" marL="0" indent="0">
                        <a:buNone/>
                      </a:pPr>
                      <a:r>
                        <a:rPr lang="en-US" sz="1200" b="1" dirty="0">
                          <a:solidFill>
                            <a:srgbClr val="404041"/>
                          </a:solidFill>
                        </a:rPr>
                        <a:t>Series page: </a:t>
                      </a:r>
                      <a:r>
                        <a:rPr lang="en-US" sz="1200" dirty="0">
                          <a:hlinkClick r:id="rIdLink1"/>
                        </a:rPr>
                        <a:t>ittraining.iu.edu/explore-topics/titles/scfes</a:t>
                      </a:r>
                    </a:p>
                  </a:txBody>
                  <a:tcPr marL="109728" marR="109728" marT="36576" marB="36576" anchor="ctr">
                    <a:lnL>
                      <a:noFill/>
                    </a:lnL>
                    <a:lnR>
                      <a:noFill/>
                    </a:lnR>
                    <a:lnT>
                      <a:noFill/>
                    </a:lnT>
                    <a:lnB w="9525">
                      <a:solidFill>
                        <a:srgbClr val="D9D4CF"/>
                      </a:solidFill>
                    </a:lnB>
                    <a:solidFill>
                      <a:srgbClr val="FFFFF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FFFF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FFFFF"/>
                    </a:solidFill>
                  </a:tcPr>
                </a:tc>
              </a:tr>
              <a:tr h="502920">
                <a:tc>
                  <a:txBody>
                    <a:bodyPr/>
                    <a:lstStyle/>
                    <a:p>
                      <a:pPr algn="l" marL="0" indent="0">
                        <a:buNone/>
                      </a:pPr>
                      <a:r>
                        <a:rPr lang="en-US" sz="1300" dirty="0">
                          <a:solidFill>
                            <a:srgbClr val="404041"/>
                          </a:solidFill>
                        </a:rPr>
                        <a:t>AI Workshop Series</a:t>
                      </a:r>
                    </a:p>
                  </a:txBody>
                  <a:tcPr marL="109728" marR="109728" marT="36576" marB="36576" anchor="ctr">
                    <a:lnL>
                      <a:noFill/>
                    </a:lnL>
                    <a:lnR>
                      <a:noFill/>
                    </a:lnR>
                    <a:lnT>
                      <a:noFill/>
                    </a:lnT>
                    <a:lnB>
                      <a:noFill/>
                    </a:lnB>
                    <a:solidFill>
                      <a:srgbClr val="F3F1EF"/>
                    </a:solidFill>
                  </a:tcPr>
                </a:tc>
                <a:tc>
                  <a:txBody>
                    <a:bodyPr/>
                    <a:lstStyle/>
                    <a:p>
                      <a:pPr algn="l" marL="0" indent="0">
                        <a:buNone/>
                      </a:pPr>
                      <a:r>
                        <a:rPr lang="en-US" sz="1300" dirty="0">
                          <a:solidFill>
                            <a:srgbClr val="404041"/>
                          </a:solidFill>
                        </a:rPr>
                        <a:t>Indiana CTSI</a:t>
                      </a:r>
                    </a:p>
                  </a:txBody>
                  <a:tcPr marL="109728" marR="109728" marT="36576" marB="36576" anchor="ctr">
                    <a:lnL>
                      <a:noFill/>
                    </a:lnL>
                    <a:lnR>
                      <a:noFill/>
                    </a:lnR>
                    <a:lnT>
                      <a:noFill/>
                    </a:lnT>
                    <a:lnB>
                      <a:noFill/>
                    </a:lnB>
                    <a:solidFill>
                      <a:srgbClr val="F3F1EF"/>
                    </a:solidFill>
                  </a:tcPr>
                </a:tc>
                <a:tc>
                  <a:txBody>
                    <a:bodyPr/>
                    <a:lstStyle/>
                    <a:p>
                      <a:pPr algn="l" marL="0" indent="0">
                        <a:buNone/>
                      </a:pPr>
                      <a:r>
                        <a:rPr lang="en-US" sz="1300" dirty="0">
                          <a:solidFill>
                            <a:srgbClr val="404041"/>
                          </a:solidFill>
                        </a:rPr>
                        <a:t>Next: Oct 27, competency-based AI training; Dec 8, AI and human subjects research (IRB)</a:t>
                      </a:r>
                    </a:p>
                  </a:txBody>
                  <a:tcPr marL="109728" marR="109728" marT="36576" marB="36576" anchor="ctr">
                    <a:lnL>
                      <a:noFill/>
                    </a:lnL>
                    <a:lnR>
                      <a:noFill/>
                    </a:lnR>
                    <a:lnT>
                      <a:noFill/>
                    </a:lnT>
                    <a:lnB>
                      <a:noFill/>
                    </a:lnB>
                    <a:solidFill>
                      <a:srgbClr val="F3F1EF"/>
                    </a:solidFill>
                  </a:tcPr>
                </a:tc>
              </a:tr>
              <a:tr h="292608">
                <a:tc gridSpan="3">
                  <a:txBody>
                    <a:bodyPr/>
                    <a:lstStyle/>
                    <a:p>
                      <a:pPr algn="l" marL="0" indent="0">
                        <a:buNone/>
                      </a:pPr>
                      <a:r>
                        <a:rPr lang="en-US" sz="1200" b="1" dirty="0">
                          <a:solidFill>
                            <a:srgbClr val="404041"/>
                          </a:solidFill>
                        </a:rPr>
                        <a:t>Series page: </a:t>
                      </a:r>
                      <a:r>
                        <a:rPr lang="en-US" sz="1200" dirty="0">
                          <a:hlinkClick r:id="rIdLink2"/>
                        </a:rPr>
                        <a:t>indianactsi.org/research/data-informatics/ai-resources/ai-workshop-series</a:t>
                      </a:r>
                    </a:p>
                  </a:txBody>
                  <a:tcPr marL="109728" marR="109728" marT="36576" marB="36576" anchor="ctr">
                    <a:lnL>
                      <a:noFill/>
                    </a:lnL>
                    <a:lnR>
                      <a:noFill/>
                    </a:lnR>
                    <a:lnT>
                      <a:noFill/>
                    </a:lnT>
                    <a:lnB w="9525">
                      <a:solidFill>
                        <a:srgbClr val="D9D4CF"/>
                      </a:solidFill>
                    </a:lnB>
                    <a:solidFill>
                      <a:srgbClr val="F3F1E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3F1E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3F1EF"/>
                    </a:solidFill>
                  </a:tcPr>
                </a:tc>
              </a:tr>
              <a:tr h="502920">
                <a:tc>
                  <a:txBody>
                    <a:bodyPr/>
                    <a:lstStyle/>
                    <a:p>
                      <a:pPr algn="l" marL="0" indent="0">
                        <a:buNone/>
                      </a:pPr>
                      <a:r>
                        <a:rPr lang="en-US" sz="1300" dirty="0">
                          <a:solidFill>
                            <a:srgbClr val="404041"/>
                          </a:solidFill>
                        </a:rPr>
                        <a:t>AI Research Brown Bag Talk</a:t>
                      </a:r>
                    </a:p>
                  </a:txBody>
                  <a:tcPr marL="109728" marR="109728" marT="36576" marB="36576" anchor="ctr">
                    <a:lnL>
                      <a:noFill/>
                    </a:lnL>
                    <a:lnR>
                      <a:noFill/>
                    </a:lnR>
                    <a:lnT>
                      <a:noFill/>
                    </a:lnT>
                    <a:lnB>
                      <a:noFill/>
                    </a:lnB>
                    <a:solidFill>
                      <a:srgbClr val="FFFFFF"/>
                    </a:solidFill>
                  </a:tcPr>
                </a:tc>
                <a:tc>
                  <a:txBody>
                    <a:bodyPr/>
                    <a:lstStyle/>
                    <a:p>
                      <a:pPr algn="l" marL="0" indent="0">
                        <a:buNone/>
                      </a:pPr>
                      <a:r>
                        <a:rPr lang="en-US" sz="1300" dirty="0">
                          <a:solidFill>
                            <a:srgbClr val="404041"/>
                          </a:solidFill>
                        </a:rPr>
                        <a:t>IU AI Research Network</a:t>
                      </a:r>
                    </a:p>
                  </a:txBody>
                  <a:tcPr marL="109728" marR="109728" marT="36576" marB="36576" anchor="ctr">
                    <a:lnL>
                      <a:noFill/>
                    </a:lnL>
                    <a:lnR>
                      <a:noFill/>
                    </a:lnR>
                    <a:lnT>
                      <a:noFill/>
                    </a:lnT>
                    <a:lnB>
                      <a:noFill/>
                    </a:lnB>
                    <a:solidFill>
                      <a:srgbClr val="FFFFFF"/>
                    </a:solidFill>
                  </a:tcPr>
                </a:tc>
                <a:tc>
                  <a:txBody>
                    <a:bodyPr/>
                    <a:lstStyle/>
                    <a:p>
                      <a:pPr algn="l" marL="0" indent="0">
                        <a:buNone/>
                      </a:pPr>
                      <a:r>
                        <a:rPr lang="en-US" sz="1300" dirty="0">
                          <a:solidFill>
                            <a:srgbClr val="404041"/>
                          </a:solidFill>
                        </a:rPr>
                        <a:t>Noon talks; next: Oct 26, Nov 9, Nov 23, Dec 7</a:t>
                      </a:r>
                    </a:p>
                  </a:txBody>
                  <a:tcPr marL="109728" marR="109728" marT="36576" marB="36576" anchor="ctr">
                    <a:lnL>
                      <a:noFill/>
                    </a:lnL>
                    <a:lnR>
                      <a:noFill/>
                    </a:lnR>
                    <a:lnT>
                      <a:noFill/>
                    </a:lnT>
                    <a:lnB>
                      <a:noFill/>
                    </a:lnB>
                    <a:solidFill>
                      <a:srgbClr val="FFFFFF"/>
                    </a:solidFill>
                  </a:tcPr>
                </a:tc>
              </a:tr>
              <a:tr h="292608">
                <a:tc gridSpan="3">
                  <a:txBody>
                    <a:bodyPr/>
                    <a:lstStyle/>
                    <a:p>
                      <a:pPr algn="l" marL="0" indent="0">
                        <a:buNone/>
                      </a:pPr>
                      <a:r>
                        <a:rPr lang="en-US" sz="1200" b="1" dirty="0">
                          <a:solidFill>
                            <a:srgbClr val="404041"/>
                          </a:solidFill>
                        </a:rPr>
                        <a:t>All IU AI events: </a:t>
                      </a:r>
                      <a:r>
                        <a:rPr lang="en-US" sz="1200" dirty="0">
                          <a:hlinkClick r:id="rIdLink3"/>
                        </a:rPr>
                        <a:t>research.iu.edu/research-networks/ai</a:t>
                      </a:r>
                    </a:p>
                  </a:txBody>
                  <a:tcPr marL="109728" marR="109728" marT="36576" marB="36576" anchor="ctr">
                    <a:lnL>
                      <a:noFill/>
                    </a:lnL>
                    <a:lnR>
                      <a:noFill/>
                    </a:lnR>
                    <a:lnT>
                      <a:noFill/>
                    </a:lnT>
                    <a:lnB w="9525">
                      <a:solidFill>
                        <a:srgbClr val="D9D4CF"/>
                      </a:solidFill>
                    </a:lnB>
                    <a:solidFill>
                      <a:srgbClr val="FFFFF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FFFFF"/>
                    </a:solidFill>
                  </a:tcPr>
                </a:tc>
                <a:tc hMerge="1">
                  <a:txBody>
                    <a:bodyPr/>
                    <a:lstStyle/>
                    <a:p>
                      <a:pPr algn="l" marL="0" indent="0">
                        <a:buNone/>
                      </a:pPr>
                      <a:r>
                        <a:rPr lang="en-US" sz="1200" dirty="0"/>
                        <a:t/>
                      </a:r>
                    </a:p>
                  </a:txBody>
                  <a:tcPr marL="109728" marR="109728" marT="36576" marB="36576" anchor="ctr">
                    <a:lnL>
                      <a:noFill/>
                    </a:lnL>
                    <a:lnR>
                      <a:noFill/>
                    </a:lnR>
                    <a:lnT>
                      <a:noFill/>
                    </a:lnT>
                    <a:lnB w="9525">
                      <a:solidFill>
                        <a:srgbClr val="D9D4CF"/>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AI resources available at IU</a:t>
            </a:r>
          </a:p>
        </p:txBody>
      </p:sp>
      <p:sp>
        <p:nvSpPr>
          <p:cNvPr id="4" name="Header 4"/>
          <p:cNvSpPr>
            <a:spLocks noGrp="1"/>
          </p:cNvSpPr>
          <p:nvPr>
            <p:ph type="body" idx="10"/>
          </p:nvPr>
        </p:nvSpPr>
        <p:spPr/>
        <p:txBody>
          <a:bodyPr/>
          <a:lstStyle/>
          <a:p>
            <a:pPr algn="r"/>
            <a:r>
              <a:rPr lang="en-US" dirty="0"/>
              <a:t>CCBB Retreat 2026</a:t>
            </a:r>
          </a:p>
        </p:txBody>
      </p:sp>
      <p:graphicFrame>
        <p:nvGraphicFramePr>
          <p:cNvPr id="5" name="Table 5"/>
          <p:cNvGraphicFramePr>
            <a:graphicFrameLocks noGrp="1"/>
          </p:cNvGraphicFramePr>
          <p:nvPr/>
        </p:nvGraphicFramePr>
        <p:xfrm>
          <a:off x="365760" y="1234440"/>
          <a:ext cx="8001000" cy="2743200"/>
        </p:xfrm>
        <a:graphic>
          <a:graphicData uri="http://schemas.openxmlformats.org/drawingml/2006/table">
            <a:tbl>
              <a:tblPr firstRow="1" bandRow="1"/>
              <a:tblGrid>
                <a:gridCol w="1600200"/>
                <a:gridCol w="1920240"/>
                <a:gridCol w="4480560"/>
              </a:tblGrid>
              <a:tr h="457200">
                <a:tc>
                  <a:txBody>
                    <a:bodyPr/>
                    <a:lstStyle/>
                    <a:p>
                      <a:pPr algn="l" marL="0" indent="0">
                        <a:buNone/>
                      </a:pPr>
                      <a:r>
                        <a:rPr lang="en-US" sz="1400" b="1" dirty="0">
                          <a:solidFill>
                            <a:srgbClr val="FFFFFF"/>
                          </a:solidFill>
                        </a:rPr>
                        <a:t>Resource</a:t>
                      </a:r>
                    </a:p>
                  </a:txBody>
                  <a:tcPr marL="109728" marR="109728" marT="45720" marB="45720" anchor="ctr">
                    <a:lnL>
                      <a:noFill/>
                    </a:lnL>
                    <a:lnR>
                      <a:noFill/>
                    </a:lnR>
                    <a:lnT>
                      <a:noFill/>
                    </a:lnT>
                    <a:lnB w="9525">
                      <a:solidFill>
                        <a:srgbClr val="D9D4CF"/>
                      </a:solidFill>
                    </a:lnB>
                    <a:solidFill>
                      <a:srgbClr val="690304"/>
                    </a:solidFill>
                  </a:tcPr>
                </a:tc>
                <a:tc>
                  <a:txBody>
                    <a:bodyPr/>
                    <a:lstStyle/>
                    <a:p>
                      <a:pPr algn="l" marL="0" indent="0">
                        <a:buNone/>
                      </a:pPr>
                      <a:r>
                        <a:rPr lang="en-US" sz="1400" b="1" dirty="0">
                          <a:solidFill>
                            <a:srgbClr val="FFFFFF"/>
                          </a:solidFill>
                        </a:rPr>
                        <a:t>Access</a:t>
                      </a:r>
                    </a:p>
                  </a:txBody>
                  <a:tcPr marL="109728" marR="109728" marT="45720" marB="45720" anchor="ctr">
                    <a:lnL>
                      <a:noFill/>
                    </a:lnL>
                    <a:lnR>
                      <a:noFill/>
                    </a:lnR>
                    <a:lnT>
                      <a:noFill/>
                    </a:lnT>
                    <a:lnB w="9525">
                      <a:solidFill>
                        <a:srgbClr val="D9D4CF"/>
                      </a:solidFill>
                    </a:lnB>
                    <a:solidFill>
                      <a:srgbClr val="690304"/>
                    </a:solidFill>
                  </a:tcPr>
                </a:tc>
                <a:tc>
                  <a:txBody>
                    <a:bodyPr/>
                    <a:lstStyle/>
                    <a:p>
                      <a:pPr algn="l" marL="0" indent="0">
                        <a:buNone/>
                      </a:pPr>
                      <a:r>
                        <a:rPr lang="en-US" sz="1400" b="1" dirty="0">
                          <a:solidFill>
                            <a:srgbClr val="FFFFFF"/>
                          </a:solidFill>
                        </a:rPr>
                        <a:t>Notes</a:t>
                      </a:r>
                    </a:p>
                  </a:txBody>
                  <a:tcPr marL="109728" marR="109728" marT="45720" marB="45720" anchor="ctr">
                    <a:lnL>
                      <a:noFill/>
                    </a:lnL>
                    <a:lnR>
                      <a:noFill/>
                    </a:lnR>
                    <a:lnT>
                      <a:noFill/>
                    </a:lnT>
                    <a:lnB w="9525">
                      <a:solidFill>
                        <a:srgbClr val="D9D4CF"/>
                      </a:solidFill>
                    </a:lnB>
                    <a:solidFill>
                      <a:srgbClr val="690304"/>
                    </a:solidFill>
                  </a:tcPr>
                </a:tc>
              </a:tr>
              <a:tr h="457200">
                <a:tc>
                  <a:txBody>
                    <a:bodyPr/>
                    <a:lstStyle/>
                    <a:p>
                      <a:pPr algn="l" marL="0" indent="0">
                        <a:buNone/>
                      </a:pPr>
                      <a:r>
                        <a:rPr lang="en-US" sz="1400" dirty="0">
                          <a:solidFill>
                            <a:srgbClr val="404041"/>
                          </a:solidFill>
                        </a:rPr>
                        <a:t>ChatGPT Edu</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IU license</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General chat and coding with Codex; restricted data OK; monthly credits go fast</a:t>
                      </a:r>
                    </a:p>
                  </a:txBody>
                  <a:tcPr marL="109728" marR="109728" marT="45720" marB="45720" anchor="ctr">
                    <a:lnL>
                      <a:noFill/>
                    </a:lnL>
                    <a:lnR>
                      <a:noFill/>
                    </a:lnR>
                    <a:lnT>
                      <a:noFill/>
                    </a:lnT>
                    <a:lnB w="9525">
                      <a:solidFill>
                        <a:srgbClr val="D9D4CF"/>
                      </a:solidFill>
                    </a:lnB>
                    <a:solidFill>
                      <a:srgbClr val="FFFFFF"/>
                    </a:solidFill>
                  </a:tcPr>
                </a:tc>
              </a:tr>
              <a:tr h="457200">
                <a:tc>
                  <a:txBody>
                    <a:bodyPr/>
                    <a:lstStyle/>
                    <a:p>
                      <a:pPr algn="l" marL="0" indent="0">
                        <a:buNone/>
                      </a:pPr>
                      <a:r>
                        <a:rPr lang="en-US" sz="1400" dirty="0">
                          <a:solidFill>
                            <a:srgbClr val="404041"/>
                          </a:solidFill>
                        </a:rPr>
                        <a:t>Google Gemini / Gemini Notebook</a:t>
                      </a:r>
                    </a:p>
                  </a:txBody>
                  <a:tcPr marL="109728" marR="109728" marT="45720" marB="45720" anchor="ctr">
                    <a:lnL>
                      <a:noFill/>
                    </a:lnL>
                    <a:lnR>
                      <a:noFill/>
                    </a:lnR>
                    <a:lnT>
                      <a:noFill/>
                    </a:lnT>
                    <a:lnB w="9525">
                      <a:solidFill>
                        <a:srgbClr val="D9D4CF"/>
                      </a:solidFill>
                    </a:lnB>
                    <a:solidFill>
                      <a:srgbClr val="F3F1EF"/>
                    </a:solidFill>
                  </a:tcPr>
                </a:tc>
                <a:tc>
                  <a:txBody>
                    <a:bodyPr/>
                    <a:lstStyle/>
                    <a:p>
                      <a:pPr algn="l" marL="0" indent="0">
                        <a:buNone/>
                      </a:pPr>
                      <a:r>
                        <a:rPr lang="en-US" sz="1400" dirty="0">
                          <a:solidFill>
                            <a:srgbClr val="404041"/>
                          </a:solidFill>
                        </a:rPr>
                        <a:t>IU access</a:t>
                      </a:r>
                    </a:p>
                  </a:txBody>
                  <a:tcPr marL="109728" marR="109728" marT="45720" marB="45720" anchor="ctr">
                    <a:lnL>
                      <a:noFill/>
                    </a:lnL>
                    <a:lnR>
                      <a:noFill/>
                    </a:lnR>
                    <a:lnT>
                      <a:noFill/>
                    </a:lnT>
                    <a:lnB w="9525">
                      <a:solidFill>
                        <a:srgbClr val="D9D4CF"/>
                      </a:solidFill>
                    </a:lnB>
                    <a:solidFill>
                      <a:srgbClr val="F3F1EF"/>
                    </a:solidFill>
                  </a:tcPr>
                </a:tc>
                <a:tc>
                  <a:txBody>
                    <a:bodyPr/>
                    <a:lstStyle/>
                    <a:p>
                      <a:pPr algn="l" marL="0" indent="0">
                        <a:buNone/>
                      </a:pPr>
                      <a:r>
                        <a:rPr lang="en-US" sz="1400" dirty="0">
                          <a:solidFill>
                            <a:srgbClr val="404041"/>
                          </a:solidFill>
                        </a:rPr>
                        <a:t>General chat and light coding; restricted data OK</a:t>
                      </a:r>
                    </a:p>
                  </a:txBody>
                  <a:tcPr marL="109728" marR="109728" marT="45720" marB="45720" anchor="ctr">
                    <a:lnL>
                      <a:noFill/>
                    </a:lnL>
                    <a:lnR>
                      <a:noFill/>
                    </a:lnR>
                    <a:lnT>
                      <a:noFill/>
                    </a:lnT>
                    <a:lnB w="9525">
                      <a:solidFill>
                        <a:srgbClr val="D9D4CF"/>
                      </a:solidFill>
                    </a:lnB>
                    <a:solidFill>
                      <a:srgbClr val="F3F1EF"/>
                    </a:solidFill>
                  </a:tcPr>
                </a:tc>
              </a:tr>
              <a:tr h="457200">
                <a:tc>
                  <a:txBody>
                    <a:bodyPr/>
                    <a:lstStyle/>
                    <a:p>
                      <a:pPr algn="l" marL="0" indent="0">
                        <a:buNone/>
                      </a:pPr>
                      <a:r>
                        <a:rPr lang="en-US" sz="1400" dirty="0">
                          <a:solidFill>
                            <a:srgbClr val="404041"/>
                          </a:solidFill>
                        </a:rPr>
                        <a:t>Microsoft Copilot</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Azure</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Restricted data OK; some costs may apply</a:t>
                      </a:r>
                    </a:p>
                  </a:txBody>
                  <a:tcPr marL="109728" marR="109728" marT="45720" marB="45720" anchor="ctr">
                    <a:lnL>
                      <a:noFill/>
                    </a:lnL>
                    <a:lnR>
                      <a:noFill/>
                    </a:lnR>
                    <a:lnT>
                      <a:noFill/>
                    </a:lnT>
                    <a:lnB w="9525">
                      <a:solidFill>
                        <a:srgbClr val="D9D4CF"/>
                      </a:solidFill>
                    </a:lnB>
                    <a:solidFill>
                      <a:srgbClr val="FFFFFF"/>
                    </a:solidFill>
                  </a:tcPr>
                </a:tc>
              </a:tr>
              <a:tr h="457200">
                <a:tc>
                  <a:txBody>
                    <a:bodyPr/>
                    <a:lstStyle/>
                    <a:p>
                      <a:pPr algn="l" marL="0" indent="0">
                        <a:buNone/>
                      </a:pPr>
                      <a:r>
                        <a:rPr lang="en-US" sz="1400" dirty="0">
                          <a:solidFill>
                            <a:srgbClr val="404041"/>
                          </a:solidFill>
                        </a:rPr>
                        <a:t>Jetstream2 and NRP.ai</a:t>
                      </a:r>
                    </a:p>
                  </a:txBody>
                  <a:tcPr marL="109728" marR="109728" marT="45720" marB="45720" anchor="ctr">
                    <a:lnL>
                      <a:noFill/>
                    </a:lnL>
                    <a:lnR>
                      <a:noFill/>
                    </a:lnR>
                    <a:lnT>
                      <a:noFill/>
                    </a:lnT>
                    <a:lnB w="9525">
                      <a:solidFill>
                        <a:srgbClr val="D9D4CF"/>
                      </a:solidFill>
                    </a:lnB>
                    <a:solidFill>
                      <a:srgbClr val="F3F1EF"/>
                    </a:solidFill>
                  </a:tcPr>
                </a:tc>
                <a:tc>
                  <a:txBody>
                    <a:bodyPr/>
                    <a:lstStyle/>
                    <a:p>
                      <a:pPr algn="l" marL="0" indent="0">
                        <a:buNone/>
                      </a:pPr>
                      <a:r>
                        <a:rPr lang="en-US" sz="1400" dirty="0">
                          <a:solidFill>
                            <a:srgbClr val="404041"/>
                          </a:solidFill>
                        </a:rPr>
                        <a:t>NSF resources</a:t>
                      </a:r>
                    </a:p>
                  </a:txBody>
                  <a:tcPr marL="109728" marR="109728" marT="45720" marB="45720" anchor="ctr">
                    <a:lnL>
                      <a:noFill/>
                    </a:lnL>
                    <a:lnR>
                      <a:noFill/>
                    </a:lnR>
                    <a:lnT>
                      <a:noFill/>
                    </a:lnT>
                    <a:lnB w="9525">
                      <a:solidFill>
                        <a:srgbClr val="D9D4CF"/>
                      </a:solidFill>
                    </a:lnB>
                    <a:solidFill>
                      <a:srgbClr val="F3F1EF"/>
                    </a:solidFill>
                  </a:tcPr>
                </a:tc>
                <a:tc>
                  <a:txBody>
                    <a:bodyPr/>
                    <a:lstStyle/>
                    <a:p>
                      <a:pPr algn="l" marL="0" indent="0">
                        <a:buNone/>
                      </a:pPr>
                      <a:r>
                        <a:rPr lang="en-US" sz="1400" dirty="0">
                          <a:solidFill>
                            <a:srgbClr val="404041"/>
                          </a:solidFill>
                        </a:rPr>
                        <a:t>Open research that fits their allocation requirements; API access; no PHI or critical data on Jetstream2</a:t>
                      </a:r>
                    </a:p>
                  </a:txBody>
                  <a:tcPr marL="109728" marR="109728" marT="45720" marB="45720" anchor="ctr">
                    <a:lnL>
                      <a:noFill/>
                    </a:lnL>
                    <a:lnR>
                      <a:noFill/>
                    </a:lnR>
                    <a:lnT>
                      <a:noFill/>
                    </a:lnT>
                    <a:lnB w="9525">
                      <a:solidFill>
                        <a:srgbClr val="D9D4CF"/>
                      </a:solidFill>
                    </a:lnB>
                    <a:solidFill>
                      <a:srgbClr val="F3F1EF"/>
                    </a:solidFill>
                  </a:tcPr>
                </a:tc>
              </a:tr>
              <a:tr h="457200">
                <a:tc>
                  <a:txBody>
                    <a:bodyPr/>
                    <a:lstStyle/>
                    <a:p>
                      <a:pPr algn="l" marL="0" indent="0">
                        <a:buNone/>
                      </a:pPr>
                      <a:r>
                        <a:rPr lang="en-US" sz="1400" dirty="0">
                          <a:solidFill>
                            <a:srgbClr val="404041"/>
                          </a:solidFill>
                        </a:rPr>
                        <a:t>REALLMS</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UITS Research Technologies</a:t>
                      </a:r>
                    </a:p>
                  </a:txBody>
                  <a:tcPr marL="109728" marR="109728" marT="45720" marB="45720" anchor="ctr">
                    <a:lnL>
                      <a:noFill/>
                    </a:lnL>
                    <a:lnR>
                      <a:noFill/>
                    </a:lnR>
                    <a:lnT>
                      <a:noFill/>
                    </a:lnT>
                    <a:lnB w="9525">
                      <a:solidFill>
                        <a:srgbClr val="D9D4CF"/>
                      </a:solidFill>
                    </a:lnB>
                    <a:solidFill>
                      <a:srgbClr val="FFFFFF"/>
                    </a:solidFill>
                  </a:tcPr>
                </a:tc>
                <a:tc>
                  <a:txBody>
                    <a:bodyPr/>
                    <a:lstStyle/>
                    <a:p>
                      <a:pPr algn="l" marL="0" indent="0">
                        <a:buNone/>
                      </a:pPr>
                      <a:r>
                        <a:rPr lang="en-US" sz="1400" dirty="0">
                          <a:solidFill>
                            <a:srgbClr val="404041"/>
                          </a:solidFill>
                        </a:rPr>
                        <a:t>The only option approved for PHI</a:t>
                      </a:r>
                    </a:p>
                  </a:txBody>
                  <a:tcPr marL="109728" marR="109728" marT="45720" marB="45720" anchor="ctr">
                    <a:lnL>
                      <a:noFill/>
                    </a:lnL>
                    <a:lnR>
                      <a:noFill/>
                    </a:lnR>
                    <a:lnT>
                      <a:noFill/>
                    </a:lnT>
                    <a:lnB w="9525">
                      <a:solidFill>
                        <a:srgbClr val="D9D4CF"/>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REALLMS: IU’s local LLMs</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p:nvPr/>
        </p:nvSpPr>
        <p:spPr>
          <a:xfrm>
            <a:off x="365760" y="1280160"/>
            <a:ext cx="3863340" cy="173736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600" b="1" dirty="0">
                <a:solidFill>
                  <a:srgbClr val="990000"/>
                </a:solidFill>
              </a:rPr>
              <a:t>Models</a:t>
            </a:r>
          </a:p>
          <a:p>
            <a:pPr algn="l" marL="228600" indent="-228600">
              <a:spcAft>
                <a:spcPts val="500"/>
              </a:spcAft>
              <a:buClr>
                <a:srgbClr val="990000"/>
              </a:buClr>
              <a:buFont typeface="Arial"/>
              <a:buChar char="•"/>
            </a:pPr>
            <a:r>
              <a:rPr lang="en-US" sz="1500" dirty="0">
                <a:solidFill>
                  <a:srgbClr val="404041"/>
                </a:solidFill>
              </a:rPr>
              <a:t>gpt-oss-120b</a:t>
            </a:r>
          </a:p>
          <a:p>
            <a:pPr algn="l" marL="228600" indent="-228600">
              <a:spcAft>
                <a:spcPts val="500"/>
              </a:spcAft>
              <a:buClr>
                <a:srgbClr val="990000"/>
              </a:buClr>
              <a:buFont typeface="Arial"/>
              <a:buChar char="•"/>
            </a:pPr>
            <a:r>
              <a:rPr lang="en-US" sz="1500" dirty="0">
                <a:solidFill>
                  <a:srgbClr val="404041"/>
                </a:solidFill>
              </a:rPr>
              <a:t>Qwen3.8-27B</a:t>
            </a:r>
          </a:p>
          <a:p>
            <a:pPr algn="l" marL="228600" indent="-228600">
              <a:spcAft>
                <a:spcPts val="500"/>
              </a:spcAft>
              <a:buClr>
                <a:srgbClr val="990000"/>
              </a:buClr>
              <a:buFont typeface="Arial"/>
              <a:buChar char="•"/>
            </a:pPr>
            <a:r>
              <a:rPr lang="en-US" sz="1500" dirty="0">
                <a:solidFill>
                  <a:srgbClr val="404041"/>
                </a:solidFill>
              </a:rPr>
              <a:t>glm5.3-flash (coming soon)</a:t>
            </a:r>
          </a:p>
        </p:txBody>
      </p:sp>
      <p:sp>
        <p:nvSpPr>
          <p:cNvPr id="6" name="TextBox 6"/>
          <p:cNvSpPr/>
          <p:nvPr/>
        </p:nvSpPr>
        <p:spPr>
          <a:xfrm>
            <a:off x="4503420" y="1280160"/>
            <a:ext cx="3863340" cy="173736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600" b="1" dirty="0">
                <a:solidFill>
                  <a:srgbClr val="990000"/>
                </a:solidFill>
              </a:rPr>
              <a:t>Access</a:t>
            </a:r>
          </a:p>
          <a:p>
            <a:pPr algn="l" marL="228600" indent="-228600">
              <a:spcAft>
                <a:spcPts val="500"/>
              </a:spcAft>
              <a:buClr>
                <a:srgbClr val="990000"/>
              </a:buClr>
              <a:buFont typeface="Arial"/>
              <a:buChar char="•"/>
            </a:pPr>
            <a:r>
              <a:rPr lang="en-US" sz="1500" dirty="0">
                <a:solidFill>
                  <a:srgbClr val="404041"/>
                </a:solidFill>
              </a:rPr>
              <a:t>Chat interface</a:t>
            </a:r>
          </a:p>
          <a:p>
            <a:pPr algn="l" marL="228600" indent="-228600">
              <a:spcAft>
                <a:spcPts val="500"/>
              </a:spcAft>
              <a:buClr>
                <a:srgbClr val="990000"/>
              </a:buClr>
              <a:buFont typeface="Arial"/>
              <a:buChar char="•"/>
            </a:pPr>
            <a:r>
              <a:rPr lang="en-US" sz="1500" dirty="0">
                <a:solidFill>
                  <a:srgbClr val="404041"/>
                </a:solidFill>
              </a:rPr>
              <a:t>API (through RT projects)</a:t>
            </a:r>
          </a:p>
          <a:p>
            <a:pPr algn="l" marL="228600" indent="-228600">
              <a:spcAft>
                <a:spcPts val="500"/>
              </a:spcAft>
              <a:buClr>
                <a:srgbClr val="990000"/>
              </a:buClr>
              <a:buFont typeface="Arial"/>
              <a:buChar char="•"/>
            </a:pPr>
            <a:r>
              <a:rPr lang="en-US" sz="1500" dirty="0">
                <a:solidFill>
                  <a:srgbClr val="404041"/>
                </a:solidFill>
              </a:rPr>
              <a:t>Run on-premise by UITS Research Technologies</a:t>
            </a:r>
          </a:p>
        </p:txBody>
      </p:sp>
      <p:sp>
        <p:nvSpPr>
          <p:cNvPr id="7" name="TextBox 7"/>
          <p:cNvSpPr/>
          <p:nvPr/>
        </p:nvSpPr>
        <p:spPr>
          <a:xfrm>
            <a:off x="365760" y="3200400"/>
            <a:ext cx="8001000" cy="502920"/>
          </a:xfrm>
          <a:prstGeom prst="rect">
            <a:avLst/>
          </a:prstGeom>
          <a:solidFill>
            <a:srgbClr val="990000"/>
          </a:solidFill>
          <a:ln>
            <a:noFill/>
          </a:ln>
        </p:spPr>
        <p:txBody>
          <a:bodyPr wrap="square" lIns="182880" tIns="109728" rIns="182880" bIns="73152" anchor="t"/>
          <a:lstStyle/>
          <a:p>
            <a:pPr algn="l" marL="0" indent="0">
              <a:buNone/>
            </a:pPr>
            <a:r>
              <a:rPr lang="en-US" sz="1700" b="1" dirty="0">
                <a:solidFill>
                  <a:srgbClr val="FFFFFF"/>
                </a:solidFill>
              </a:rPr>
              <a:t>The only IU option approved for PHI</a:t>
            </a:r>
          </a:p>
        </p:txBody>
      </p:sp>
      <p:sp>
        <p:nvSpPr>
          <p:cNvPr id="8" name="TextBox 8"/>
          <p:cNvSpPr txBox="1"/>
          <p:nvPr/>
        </p:nvSpPr>
        <p:spPr>
          <a:xfrm>
            <a:off x="365760" y="3840480"/>
            <a:ext cx="8001000" cy="320040"/>
          </a:xfrm>
          <a:prstGeom prst="rect">
            <a:avLst/>
          </a:prstGeom>
          <a:noFill/>
          <a:ln>
            <a:noFill/>
          </a:ln>
        </p:spPr>
        <p:txBody>
          <a:bodyPr wrap="square" lIns="0" tIns="0" rIns="0" bIns="0" anchor="t"/>
          <a:lstStyle/>
          <a:p>
            <a:pPr algn="l" marL="0" indent="0">
              <a:buNone/>
            </a:pPr>
            <a:r>
              <a:rPr lang="en-US" sz="1300" b="1" dirty="0">
                <a:solidFill>
                  <a:srgbClr val="404041"/>
                </a:solidFill>
              </a:rPr>
              <a:t>About REALLMS: </a:t>
            </a:r>
            <a:r>
              <a:rPr lang="en-US" sz="1300" dirty="0">
                <a:hlinkClick r:id="rIdLink1"/>
              </a:rPr>
              <a:t>researchdata.iu.edu/resource-catalog/about-reallms-at-iu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Who to ask about AI in your research</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p:nvPr/>
        </p:nvSpPr>
        <p:spPr>
          <a:xfrm>
            <a:off x="365760" y="1280160"/>
            <a:ext cx="2514600" cy="269748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500" b="1" dirty="0">
                <a:solidFill>
                  <a:srgbClr val="990000"/>
                </a:solidFill>
              </a:rPr>
              <a:t>ODSAI</a:t>
            </a:r>
          </a:p>
          <a:p>
            <a:pPr algn="l" marL="228600" indent="-228600">
              <a:spcAft>
                <a:spcPts val="500"/>
              </a:spcAft>
              <a:buClr>
                <a:srgbClr val="990000"/>
              </a:buClr>
              <a:buFont typeface="Arial"/>
              <a:buChar char="•"/>
            </a:pPr>
            <a:r>
              <a:rPr lang="en-US" sz="1300" dirty="0">
                <a:solidFill>
                  <a:srgbClr val="404041"/>
                </a:solidFill>
              </a:rPr>
              <a:t>Focus: using AI to accelerate basic and computational research</a:t>
            </a:r>
          </a:p>
          <a:p>
            <a:pPr algn="l" marL="228600" indent="-228600">
              <a:spcAft>
                <a:spcPts val="500"/>
              </a:spcAft>
              <a:buClr>
                <a:srgbClr val="990000"/>
              </a:buClr>
              <a:buFont typeface="Arial"/>
              <a:buChar char="•"/>
            </a:pPr>
            <a:r>
              <a:rPr lang="en-US" sz="1300" dirty="0">
                <a:solidFill>
                  <a:srgbClr val="404041"/>
                </a:solidFill>
              </a:rPr>
              <a:t>Education: how to actively apply AI tools to your research today</a:t>
            </a:r>
          </a:p>
          <a:p>
            <a:pPr algn="l" marL="228600" indent="-228600">
              <a:spcAft>
                <a:spcPts val="500"/>
              </a:spcAft>
              <a:buClr>
                <a:srgbClr val="990000"/>
              </a:buClr>
              <a:buFont typeface="Arial"/>
              <a:buChar char="•"/>
            </a:pPr>
            <a:r>
              <a:rPr lang="en-US" sz="1300" dirty="0">
                <a:solidFill>
                  <a:srgbClr val="404041"/>
                </a:solidFill>
              </a:rPr>
              <a:t>Hands-on help when you need it</a:t>
            </a:r>
          </a:p>
          <a:p>
            <a:pPr algn="l" marL="228600" indent="-228600">
              <a:spcAft>
                <a:spcPts val="500"/>
              </a:spcAft>
              <a:buClr>
                <a:srgbClr val="990000"/>
              </a:buClr>
              <a:buFont typeface="Arial"/>
              <a:buChar char="•"/>
            </a:pPr>
            <a:r>
              <a:rPr lang="en-US" sz="1300" dirty="0">
                <a:solidFill>
                  <a:srgbClr val="404041"/>
                </a:solidFill>
              </a:rPr>
              <a:t>Connects you with the right people</a:t>
            </a:r>
          </a:p>
        </p:txBody>
      </p:sp>
      <p:sp>
        <p:nvSpPr>
          <p:cNvPr id="6" name="TextBox 6"/>
          <p:cNvSpPr/>
          <p:nvPr/>
        </p:nvSpPr>
        <p:spPr>
          <a:xfrm>
            <a:off x="3108960" y="1280160"/>
            <a:ext cx="2514600" cy="269748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500" b="1" dirty="0">
                <a:solidFill>
                  <a:srgbClr val="990000"/>
                </a:solidFill>
              </a:rPr>
              <a:t>AI Governance Committee</a:t>
            </a:r>
          </a:p>
          <a:p>
            <a:pPr algn="l" marL="228600" indent="-228600">
              <a:spcAft>
                <a:spcPts val="500"/>
              </a:spcAft>
              <a:buClr>
                <a:srgbClr val="990000"/>
              </a:buClr>
              <a:buFont typeface="Arial"/>
              <a:buChar char="•"/>
            </a:pPr>
            <a:r>
              <a:rPr lang="en-US" sz="1300" dirty="0">
                <a:solidFill>
                  <a:srgbClr val="404041"/>
                </a:solidFill>
              </a:rPr>
              <a:t>Members from IUSM, IU Health and Regenstrief</a:t>
            </a:r>
          </a:p>
          <a:p>
            <a:pPr algn="l" marL="228600" indent="-228600">
              <a:spcAft>
                <a:spcPts val="500"/>
              </a:spcAft>
              <a:buClr>
                <a:srgbClr val="990000"/>
              </a:buClr>
              <a:buFont typeface="Arial"/>
              <a:buChar char="•"/>
            </a:pPr>
            <a:r>
              <a:rPr lang="en-US" sz="1300" dirty="0">
                <a:solidFill>
                  <a:srgbClr val="404041"/>
                </a:solidFill>
              </a:rPr>
              <a:t>Education, clinical, research and IT leaders</a:t>
            </a:r>
          </a:p>
          <a:p>
            <a:pPr algn="l" marL="228600" indent="-228600">
              <a:spcAft>
                <a:spcPts val="500"/>
              </a:spcAft>
              <a:buClr>
                <a:srgbClr val="990000"/>
              </a:buClr>
              <a:buFont typeface="Arial"/>
              <a:buChar char="•"/>
            </a:pPr>
            <a:r>
              <a:rPr lang="en-US" sz="1300" dirty="0">
                <a:solidFill>
                  <a:srgbClr val="404041"/>
                </a:solidFill>
              </a:rPr>
              <a:t>Advisory group on running an AI research program the right way: approved tools, protected data, compliance</a:t>
            </a:r>
          </a:p>
        </p:txBody>
      </p:sp>
      <p:sp>
        <p:nvSpPr>
          <p:cNvPr id="7" name="TextBox 7"/>
          <p:cNvSpPr/>
          <p:nvPr/>
        </p:nvSpPr>
        <p:spPr>
          <a:xfrm>
            <a:off x="5852160" y="1280160"/>
            <a:ext cx="2514600" cy="269748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500" b="1" dirty="0">
                <a:solidFill>
                  <a:srgbClr val="990000"/>
                </a:solidFill>
              </a:rPr>
              <a:t>Dean’s office AI group</a:t>
            </a:r>
          </a:p>
          <a:p>
            <a:pPr algn="l" marL="228600" indent="-228600">
              <a:spcAft>
                <a:spcPts val="500"/>
              </a:spcAft>
              <a:buClr>
                <a:srgbClr val="990000"/>
              </a:buClr>
              <a:buFont typeface="Arial"/>
              <a:buChar char="•"/>
            </a:pPr>
            <a:r>
              <a:rPr lang="en-US" sz="1300" dirty="0">
                <a:solidFill>
                  <a:srgbClr val="404041"/>
                </a:solidFill>
              </a:rPr>
              <a:t>Includes David Hanson, director of artificial intelligence</a:t>
            </a:r>
          </a:p>
          <a:p>
            <a:pPr algn="l" marL="228600" indent="-228600">
              <a:spcAft>
                <a:spcPts val="500"/>
              </a:spcAft>
              <a:buClr>
                <a:srgbClr val="990000"/>
              </a:buClr>
              <a:buFont typeface="Arial"/>
              <a:buChar char="•"/>
            </a:pPr>
            <a:r>
              <a:rPr lang="en-US" sz="1300" dirty="0">
                <a:solidFill>
                  <a:srgbClr val="404041"/>
                </a:solidFill>
              </a:rPr>
              <a:t>Supports AI in clinical and education settings</a:t>
            </a:r>
          </a:p>
          <a:p>
            <a:pPr algn="l" marL="228600" indent="-228600">
              <a:spcAft>
                <a:spcPts val="500"/>
              </a:spcAft>
              <a:buClr>
                <a:srgbClr val="990000"/>
              </a:buClr>
              <a:buFont typeface="Arial"/>
              <a:buChar char="•"/>
            </a:pPr>
            <a:r>
              <a:rPr lang="en-US" sz="1300" dirty="0">
                <a:solidFill>
                  <a:srgbClr val="404041"/>
                </a:solidFill>
              </a:rPr>
              <a:t>Proof-of-concept development and consulting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Example: a joint consult</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txBox="1"/>
          <p:nvPr/>
        </p:nvSpPr>
        <p:spPr>
          <a:xfrm>
            <a:off x="365760" y="1280160"/>
            <a:ext cx="8001000" cy="365760"/>
          </a:xfrm>
          <a:prstGeom prst="rect">
            <a:avLst/>
          </a:prstGeom>
          <a:noFill/>
          <a:ln>
            <a:noFill/>
          </a:ln>
        </p:spPr>
        <p:txBody>
          <a:bodyPr wrap="square" lIns="0" tIns="0" rIns="0" bIns="0" anchor="t"/>
          <a:lstStyle/>
          <a:p>
            <a:pPr algn="l" marL="0" indent="0">
              <a:buNone/>
            </a:pPr>
            <a:r>
              <a:rPr lang="en-US" sz="1600" b="1" dirty="0">
                <a:solidFill>
                  <a:srgbClr val="404041"/>
                </a:solidFill>
              </a:rPr>
              <a:t>IU School of Medicine–Northwest-Gary</a:t>
            </a:r>
          </a:p>
        </p:txBody>
      </p:sp>
      <p:sp>
        <p:nvSpPr>
          <p:cNvPr id="6" name="Card 6"/>
          <p:cNvSpPr/>
          <p:nvPr/>
        </p:nvSpPr>
        <p:spPr>
          <a:xfrm>
            <a:off x="365760" y="1828800"/>
            <a:ext cx="3566160" cy="137160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The question</a:t>
            </a:r>
          </a:p>
          <a:p>
            <a:pPr algn="l" marL="0" indent="0">
              <a:spcAft>
                <a:spcPts val="200"/>
              </a:spcAft>
              <a:buNone/>
            </a:pPr>
            <a:r>
              <a:rPr lang="en-US" sz="1500" dirty="0">
                <a:solidFill>
                  <a:srgbClr val="404041"/>
                </a:solidFill>
              </a:rPr>
              <a:t>A group wanted to use AI tools to capture conversations in a clinical learning environment</a:t>
            </a:r>
          </a:p>
        </p:txBody>
      </p:sp>
      <p:sp>
        <p:nvSpPr>
          <p:cNvPr id="7" name="Arrow 7"/>
          <p:cNvSpPr/>
          <p:nvPr/>
        </p:nvSpPr>
        <p:spPr>
          <a:xfrm>
            <a:off x="4069080" y="2350008"/>
            <a:ext cx="502920" cy="329184"/>
          </a:xfrm>
          <a:prstGeom prst="rightArrow">
            <a:avLst/>
          </a:prstGeom>
          <a:solidFill>
            <a:srgbClr val="990000"/>
          </a:solidFill>
          <a:ln>
            <a:noFill/>
          </a:ln>
        </p:spPr>
        <p:txBody>
          <a:bodyPr wrap="square" lIns="0" tIns="0" rIns="0" bIns="0" anchor="t"/>
          <a:lstStyle/>
          <a:p>
            <a:pPr algn="l" marL="0" indent="0">
              <a:buNone/>
            </a:pPr>
            <a:r>
              <a:rPr lang="en-US" dirty="0"/>
              <a:t/>
            </a:r>
          </a:p>
        </p:txBody>
      </p:sp>
      <p:sp>
        <p:nvSpPr>
          <p:cNvPr id="8" name="Card 8"/>
          <p:cNvSpPr/>
          <p:nvPr/>
        </p:nvSpPr>
        <p:spPr>
          <a:xfrm>
            <a:off x="4709160" y="1828800"/>
            <a:ext cx="3566160" cy="137160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The consult</a:t>
            </a:r>
          </a:p>
          <a:p>
            <a:pPr algn="l" marL="0" indent="0">
              <a:spcAft>
                <a:spcPts val="200"/>
              </a:spcAft>
              <a:buNone/>
            </a:pPr>
            <a:r>
              <a:rPr lang="en-US" sz="1500" dirty="0">
                <a:solidFill>
                  <a:srgbClr val="404041"/>
                </a:solidFill>
              </a:rPr>
              <a:t>ODSAI and the Dean’s office AI group met with the faculty members to discuss feasibility and implementation options for their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Coordinating classroom efforts</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txBox="1"/>
          <p:nvPr/>
        </p:nvSpPr>
        <p:spPr>
          <a:xfrm>
            <a:off x="365760" y="1325880"/>
            <a:ext cx="8001000" cy="457200"/>
          </a:xfrm>
          <a:prstGeom prst="rect">
            <a:avLst/>
          </a:prstGeom>
          <a:noFill/>
          <a:ln>
            <a:noFill/>
          </a:ln>
        </p:spPr>
        <p:txBody>
          <a:bodyPr wrap="square" lIns="0" tIns="0" rIns="0" bIns="0" anchor="t"/>
          <a:lstStyle/>
          <a:p>
            <a:pPr algn="l" marL="0" indent="0">
              <a:buNone/>
            </a:pPr>
            <a:r>
              <a:rPr lang="en-US" sz="1600" dirty="0">
                <a:solidFill>
                  <a:srgbClr val="404041"/>
                </a:solidFill>
              </a:rPr>
              <a:t>Dayu Sun (Biostatistics) is developing a course on AI Literacy.</a:t>
            </a:r>
          </a:p>
        </p:txBody>
      </p:sp>
      <p:sp>
        <p:nvSpPr>
          <p:cNvPr id="6" name="TextBox 6"/>
          <p:cNvSpPr/>
          <p:nvPr/>
        </p:nvSpPr>
        <p:spPr>
          <a:xfrm>
            <a:off x="365760" y="1920240"/>
            <a:ext cx="8001000" cy="1463040"/>
          </a:xfrm>
          <a:prstGeom prst="rect">
            <a:avLst/>
          </a:prstGeom>
          <a:solidFill>
            <a:srgbClr val="F3F1EF"/>
          </a:solidFill>
          <a:ln>
            <a:noFill/>
          </a:ln>
        </p:spPr>
        <p:txBody>
          <a:bodyPr wrap="square" lIns="137160" tIns="109728" rIns="137160" bIns="109728" anchor="t"/>
          <a:lstStyle/>
          <a:p>
            <a:pPr algn="l" marL="0" indent="0">
              <a:spcAft>
                <a:spcPts val="600"/>
              </a:spcAft>
              <a:buNone/>
            </a:pPr>
            <a:r>
              <a:rPr lang="en-US" sz="1500" b="1" dirty="0">
                <a:solidFill>
                  <a:srgbClr val="990000"/>
                </a:solidFill>
              </a:rPr>
              <a:t>ODSAI’s role</a:t>
            </a:r>
          </a:p>
          <a:p>
            <a:pPr algn="l" marL="228600" indent="-228600">
              <a:spcAft>
                <a:spcPts val="500"/>
              </a:spcAft>
              <a:buClr>
                <a:srgbClr val="990000"/>
              </a:buClr>
              <a:buFont typeface="Arial"/>
              <a:buChar char="•"/>
            </a:pPr>
            <a:r>
              <a:rPr lang="en-US" sz="1400" dirty="0">
                <a:solidFill>
                  <a:srgbClr val="404041"/>
                </a:solidFill>
              </a:rPr>
              <a:t>Coordinate across classes with similar AI needs, so each class doesn’t reinvent the wheel</a:t>
            </a:r>
          </a:p>
          <a:p>
            <a:pPr algn="l" marL="228600" indent="-228600">
              <a:spcAft>
                <a:spcPts val="500"/>
              </a:spcAft>
              <a:buClr>
                <a:srgbClr val="990000"/>
              </a:buClr>
              <a:buFont typeface="Arial"/>
              <a:buChar char="•"/>
            </a:pPr>
            <a:r>
              <a:rPr lang="en-US" sz="1400" dirty="0">
                <a:solidFill>
                  <a:srgbClr val="404041"/>
                </a:solidFill>
              </a:rPr>
              <a:t>Share notes on AI tools and how to get students access</a:t>
            </a:r>
          </a:p>
          <a:p>
            <a:pPr algn="l" marL="228600" indent="-228600">
              <a:spcAft>
                <a:spcPts val="500"/>
              </a:spcAft>
              <a:buClr>
                <a:srgbClr val="990000"/>
              </a:buClr>
              <a:buFont typeface="Arial"/>
              <a:buChar char="•"/>
            </a:pPr>
            <a:r>
              <a:rPr lang="en-US" sz="1400" dirty="0">
                <a:solidFill>
                  <a:srgbClr val="404041"/>
                </a:solidFill>
              </a:rPr>
              <a:t>For this course: computing needs, available LLMs for coursework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What makes biomedical AI different</a:t>
            </a:r>
          </a:p>
        </p:txBody>
      </p:sp>
      <p:sp>
        <p:nvSpPr>
          <p:cNvPr id="4" name="Header 4"/>
          <p:cNvSpPr>
            <a:spLocks noGrp="1"/>
          </p:cNvSpPr>
          <p:nvPr>
            <p:ph type="body" idx="10"/>
          </p:nvPr>
        </p:nvSpPr>
        <p:spPr/>
        <p:txBody>
          <a:bodyPr/>
          <a:lstStyle/>
          <a:p>
            <a:pPr algn="r"/>
            <a:r>
              <a:rPr lang="en-US" dirty="0"/>
              <a:t>CCBB Retreat 2026</a:t>
            </a:r>
          </a:p>
        </p:txBody>
      </p:sp>
      <p:sp>
        <p:nvSpPr>
          <p:cNvPr id="5" name="Card 5"/>
          <p:cNvSpPr/>
          <p:nvPr/>
        </p:nvSpPr>
        <p:spPr>
          <a:xfrm>
            <a:off x="365760" y="1325880"/>
            <a:ext cx="3886200" cy="118872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Protected data</a:t>
            </a:r>
          </a:p>
          <a:p>
            <a:pPr algn="l" marL="0" indent="0">
              <a:spcAft>
                <a:spcPts val="200"/>
              </a:spcAft>
              <a:buNone/>
            </a:pPr>
            <a:r>
              <a:rPr lang="en-US" sz="1500" dirty="0">
                <a:solidFill>
                  <a:srgbClr val="404041"/>
                </a:solidFill>
              </a:rPr>
              <a:t>Patient data and IRB terms limit which tools can see what</a:t>
            </a:r>
          </a:p>
        </p:txBody>
      </p:sp>
      <p:sp>
        <p:nvSpPr>
          <p:cNvPr id="6" name="Card 6"/>
          <p:cNvSpPr/>
          <p:nvPr/>
        </p:nvSpPr>
        <p:spPr>
          <a:xfrm>
            <a:off x="4480560" y="1325880"/>
            <a:ext cx="3886200" cy="118872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Checking output</a:t>
            </a:r>
          </a:p>
          <a:p>
            <a:pPr algn="l" marL="0" indent="0">
              <a:spcAft>
                <a:spcPts val="200"/>
              </a:spcAft>
              <a:buNone/>
            </a:pPr>
            <a:r>
              <a:rPr lang="en-US" sz="1500" dirty="0">
                <a:solidFill>
                  <a:srgbClr val="404041"/>
                </a:solidFill>
              </a:rPr>
              <a:t>Fluent answers, citations and code can still be wrong</a:t>
            </a:r>
          </a:p>
        </p:txBody>
      </p:sp>
      <p:sp>
        <p:nvSpPr>
          <p:cNvPr id="7" name="Card 7"/>
          <p:cNvSpPr/>
          <p:nvPr/>
        </p:nvSpPr>
        <p:spPr>
          <a:xfrm>
            <a:off x="365760" y="2743200"/>
            <a:ext cx="3886200" cy="118872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Reproducibility</a:t>
            </a:r>
          </a:p>
          <a:p>
            <a:pPr algn="l" marL="0" indent="0">
              <a:spcAft>
                <a:spcPts val="200"/>
              </a:spcAft>
              <a:buNone/>
            </a:pPr>
            <a:r>
              <a:rPr lang="en-US" sz="1500" dirty="0">
                <a:solidFill>
                  <a:srgbClr val="404041"/>
                </a:solidFill>
              </a:rPr>
              <a:t>Analyses still have to be rerun, reviewed and documented</a:t>
            </a:r>
          </a:p>
        </p:txBody>
      </p:sp>
      <p:sp>
        <p:nvSpPr>
          <p:cNvPr id="8" name="Card 8"/>
          <p:cNvSpPr/>
          <p:nvPr/>
        </p:nvSpPr>
        <p:spPr>
          <a:xfrm>
            <a:off x="4480560" y="2743200"/>
            <a:ext cx="3886200" cy="118872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600" b="1" dirty="0">
                <a:solidFill>
                  <a:srgbClr val="990000"/>
                </a:solidFill>
              </a:rPr>
              <a:t>Your own data</a:t>
            </a:r>
          </a:p>
          <a:p>
            <a:pPr algn="l" marL="0" indent="0">
              <a:spcAft>
                <a:spcPts val="200"/>
              </a:spcAft>
              <a:buNone/>
            </a:pPr>
            <a:r>
              <a:rPr lang="en-US" sz="1500" dirty="0">
                <a:solidFill>
                  <a:srgbClr val="404041"/>
                </a:solidFill>
              </a:rPr>
              <a:t>General tools don’t know your lab’s data, methods or literature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ctrTitle"/>
          </p:nvPr>
        </p:nvSpPr>
        <p:spPr/>
        <p:txBody>
          <a:bodyPr/>
          <a:lstStyle/>
          <a:p>
            <a:pPr algn="l"/>
            <a:r>
              <a:rPr lang="en-US" dirty="0"/>
              <a:t>Workshop goals: removing the magic</a:t>
            </a:r>
          </a:p>
        </p:txBody>
      </p:sp>
      <p:sp>
        <p:nvSpPr>
          <p:cNvPr id="4" name="Header 4"/>
          <p:cNvSpPr>
            <a:spLocks noGrp="1"/>
          </p:cNvSpPr>
          <p:nvPr>
            <p:ph type="body" idx="10"/>
          </p:nvPr>
        </p:nvSpPr>
        <p:spPr/>
        <p:txBody>
          <a:bodyPr/>
          <a:lstStyle/>
          <a:p>
            <a:pPr algn="r"/>
            <a:r>
              <a:rPr lang="en-US" dirty="0"/>
              <a:t>CCBB Retreat 2026</a:t>
            </a:r>
          </a:p>
        </p:txBody>
      </p:sp>
      <p:sp>
        <p:nvSpPr>
          <p:cNvPr id="5" name="TextBox 5"/>
          <p:cNvSpPr/>
          <p:nvPr/>
        </p:nvSpPr>
        <p:spPr>
          <a:xfrm>
            <a:off x="365760" y="1280160"/>
            <a:ext cx="2514600" cy="2148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200" b="1" dirty="0">
                <a:solidFill>
                  <a:srgbClr val="990000"/>
                </a:solidFill>
              </a:rPr>
              <a:t>DAY 1</a:t>
            </a:r>
          </a:p>
          <a:p>
            <a:pPr algn="l" marL="0" indent="0">
              <a:spcAft>
                <a:spcPts val="600"/>
              </a:spcAft>
              <a:buNone/>
            </a:pPr>
            <a:r>
              <a:rPr lang="en-US" sz="1500" b="1" dirty="0">
                <a:solidFill>
                  <a:srgbClr val="404041"/>
                </a:solidFill>
              </a:rPr>
              <a:t>How AI works (and where it breaks)</a:t>
            </a:r>
          </a:p>
          <a:p>
            <a:pPr algn="l" marL="0" indent="0">
              <a:buNone/>
            </a:pPr>
            <a:r>
              <a:rPr lang="en-US" sz="1300" dirty="0">
                <a:solidFill>
                  <a:srgbClr val="404041"/>
                </a:solidFill>
              </a:rPr>
              <a:t>Build a classifier, watch an LLM sample, trace an agent loop</a:t>
            </a:r>
          </a:p>
        </p:txBody>
      </p:sp>
      <p:sp>
        <p:nvSpPr>
          <p:cNvPr id="6" name="TextBox 6"/>
          <p:cNvSpPr/>
          <p:nvPr/>
        </p:nvSpPr>
        <p:spPr>
          <a:xfrm>
            <a:off x="3108960" y="1280160"/>
            <a:ext cx="2514600" cy="2148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200" b="1" dirty="0">
                <a:solidFill>
                  <a:srgbClr val="990000"/>
                </a:solidFill>
              </a:rPr>
              <a:t>DAY 2</a:t>
            </a:r>
          </a:p>
          <a:p>
            <a:pPr algn="l" marL="0" indent="0">
              <a:spcAft>
                <a:spcPts val="600"/>
              </a:spcAft>
              <a:buNone/>
            </a:pPr>
            <a:r>
              <a:rPr lang="en-US" sz="1500" b="1" dirty="0">
                <a:solidFill>
                  <a:srgbClr val="404041"/>
                </a:solidFill>
              </a:rPr>
              <a:t>Getting your data accessible to LLMs</a:t>
            </a:r>
          </a:p>
          <a:p>
            <a:pPr algn="l" marL="0" indent="0">
              <a:buNone/>
            </a:pPr>
            <a:r>
              <a:rPr lang="en-US" sz="1300" dirty="0">
                <a:solidFill>
                  <a:srgbClr val="404041"/>
                </a:solidFill>
              </a:rPr>
              <a:t>A retrieval index and an MCP server connected to your own chat interface</a:t>
            </a:r>
          </a:p>
        </p:txBody>
      </p:sp>
      <p:sp>
        <p:nvSpPr>
          <p:cNvPr id="7" name="TextBox 7"/>
          <p:cNvSpPr/>
          <p:nvPr/>
        </p:nvSpPr>
        <p:spPr>
          <a:xfrm>
            <a:off x="5852160" y="1280160"/>
            <a:ext cx="2514600" cy="2148840"/>
          </a:xfrm>
          <a:prstGeom prst="rect">
            <a:avLst/>
          </a:prstGeom>
          <a:solidFill>
            <a:srgbClr val="F3F1EF"/>
          </a:solidFill>
          <a:ln>
            <a:noFill/>
          </a:ln>
        </p:spPr>
        <p:txBody>
          <a:bodyPr wrap="square" lIns="137160" tIns="109728" rIns="137160" bIns="109728" anchor="t"/>
          <a:lstStyle/>
          <a:p>
            <a:pPr algn="l" marL="0" indent="0">
              <a:spcAft>
                <a:spcPts val="400"/>
              </a:spcAft>
              <a:buNone/>
            </a:pPr>
            <a:r>
              <a:rPr lang="en-US" sz="1200" b="1" dirty="0">
                <a:solidFill>
                  <a:srgbClr val="990000"/>
                </a:solidFill>
              </a:rPr>
              <a:t>DAY 3</a:t>
            </a:r>
          </a:p>
          <a:p>
            <a:pPr algn="l" marL="0" indent="0">
              <a:spcAft>
                <a:spcPts val="600"/>
              </a:spcAft>
              <a:buNone/>
            </a:pPr>
            <a:r>
              <a:rPr lang="en-US" sz="1500" b="1" dirty="0">
                <a:solidFill>
                  <a:srgbClr val="404041"/>
                </a:solidFill>
              </a:rPr>
              <a:t>A coding analysis exercise</a:t>
            </a:r>
          </a:p>
          <a:p>
            <a:pPr algn="l" marL="0" indent="0">
              <a:buNone/>
            </a:pPr>
            <a:r>
              <a:rPr lang="en-US" sz="1300" dirty="0">
                <a:solidFill>
                  <a:srgbClr val="404041"/>
                </a:solidFill>
              </a:rPr>
              <a:t>Direct an AI coding harness (such as OpenCode or Codex) through a full RNA-seq analysis from a written plan with pre-registered checks</a:t>
            </a:r>
          </a:p>
        </p:txBody>
      </p:sp>
      <p:sp>
        <p:nvSpPr>
          <p:cNvPr id="8" name="TextBox 8"/>
          <p:cNvSpPr txBox="1"/>
          <p:nvPr/>
        </p:nvSpPr>
        <p:spPr>
          <a:xfrm>
            <a:off x="365760" y="3584448"/>
            <a:ext cx="8001000" cy="320040"/>
          </a:xfrm>
          <a:prstGeom prst="rect">
            <a:avLst/>
          </a:prstGeom>
          <a:noFill/>
          <a:ln>
            <a:noFill/>
          </a:ln>
        </p:spPr>
        <p:txBody>
          <a:bodyPr wrap="square" lIns="0" tIns="0" rIns="0" bIns="0" anchor="t"/>
          <a:lstStyle/>
          <a:p>
            <a:pPr algn="l" marL="0" indent="0">
              <a:buNone/>
            </a:pPr>
            <a:r>
              <a:rPr lang="en-US" sz="1300" i="1" dirty="0">
                <a:solidFill>
                  <a:srgbClr val="6B6B6C"/>
                </a:solidFill>
              </a:rPr>
              <a:t>Three weekly 3.5-hour sessions · IUSM research trainees and faculty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cNvSpPr>
            <a:spLocks noGrp="1"/>
          </p:cNvSpPr>
          <p:nvPr>
            <p:ph type="title"/>
          </p:nvPr>
        </p:nvSpPr>
        <p:spPr/>
        <p:txBody>
          <a:bodyPr>
            <a:normAutofit/>
          </a:bodyPr>
          <a:lstStyle/>
          <a:p>
            <a:pPr algn="l"/>
            <a:r>
              <a:rPr lang="en-US" sz="2800" dirty="0">
                <a:hlinkClick r:id="rIdLink1"/>
              </a:rPr>
              <a:t>ai-workshop.compgenlab.org</a:t>
            </a:r>
          </a:p>
        </p:txBody>
      </p:sp>
      <p:sp>
        <p:nvSpPr>
          <p:cNvPr id="4" name="Subtitle 4"/>
          <p:cNvSpPr>
            <a:spLocks noGrp="1"/>
          </p:cNvSpPr>
          <p:nvPr>
            <p:ph type="body" idx="10"/>
          </p:nvPr>
        </p:nvSpPr>
        <p:spPr/>
        <p:txBody>
          <a:bodyPr/>
          <a:lstStyle/>
          <a:p>
            <a:pPr algn="l"/>
            <a:r>
              <a:rPr lang="en-US" dirty="0"/>
              <a:t>WORKSHOP WEBSITE</a:t>
            </a:r>
          </a:p>
        </p:txBody>
      </p:sp>
      <p:sp>
        <p:nvSpPr>
          <p:cNvPr id="6" name="Contact 6"/>
          <p:cNvSpPr txBox="1"/>
          <p:nvPr/>
        </p:nvSpPr>
        <p:spPr>
          <a:xfrm>
            <a:off x="530352" y="3063240"/>
            <a:ext cx="8138160" cy="1005840"/>
          </a:xfrm>
          <a:prstGeom prst="rect">
            <a:avLst/>
          </a:prstGeom>
          <a:noFill/>
          <a:ln>
            <a:noFill/>
          </a:ln>
        </p:spPr>
        <p:txBody>
          <a:bodyPr wrap="square" lIns="0" tIns="0" rIns="0" bIns="0" anchor="t"/>
          <a:lstStyle/>
          <a:p>
            <a:pPr algn="l" marL="0" indent="0">
              <a:spcAft>
                <a:spcPts val="400"/>
              </a:spcAft>
              <a:buNone/>
            </a:pPr>
            <a:r>
              <a:rPr lang="en-US" sz="1800" b="1" dirty="0"/>
              <a:t>Thinking of using AI or LLM tools in your research? ODSAI can help.</a:t>
            </a:r>
          </a:p>
          <a:p>
            <a:pPr algn="l" marL="0" indent="0">
              <a:buNone/>
            </a:pPr>
            <a:r>
              <a:rPr lang="en-US" sz="1600" dirty="0"/>
              <a:t>We’ll connect you with the right people.</a:t>
            </a:r>
          </a:p>
        </p:txBody>
      </p:sp>
    </p:spTree>
  </p:cSld>
  <p:clrMapOvr>
    <a:masterClrMapping/>
  </p:clrMapOvr>
</p:sld>
</file>

<file path=ppt/theme/theme1.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U-SchMedicine wide PPT" id="{B3DDDD56-FC3F-7241-8270-5F9677A0926B}" vid="{60B74AE3-677B-FC4F-B870-143C54B7CF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3.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s>
</ds:datastoreItem>
</file>

<file path=docProps/app.xml><?xml version="1.0" encoding="utf-8"?>
<Properties xmlns="http://schemas.openxmlformats.org/officeDocument/2006/extended-properties" xmlns:vt="http://schemas.openxmlformats.org/officeDocument/2006/docPropsVTypes">
  <Template>Main</Template>
  <TotalTime>35</TotalTime>
  <Words>31</Words>
  <Application>Microsoft Macintosh PowerPoint</Application>
  <PresentationFormat>On-screen Show (16:9)</PresentationFormat>
  <Paragraphs>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Wingdings</vt:lpstr>
      <vt:lpstr>Main</vt:lpstr>
      <vt:lpstr> IUSM – Office of Data Science and AI AI Education Initiatives </vt:lpstr>
      <vt:lpstr>AI Tools Workshop for Researchers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Breese, Marcus R</dc:creator>
  <cp:lastModifiedBy>Breese, Marcus R</cp:lastModifiedBy>
  <cp:revision>1</cp:revision>
  <cp:lastPrinted>2018-12-18T16:32:29Z</cp:lastPrinted>
  <dcterms:created xsi:type="dcterms:W3CDTF">2026-10-15T14:46:27Z</dcterms:created>
  <dcterms:modified xsi:type="dcterms:W3CDTF">2026-10-15T15:21:27Z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